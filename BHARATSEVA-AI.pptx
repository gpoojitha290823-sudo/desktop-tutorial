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Manrope"/>
      <p:regular r:id="rId201314"/>
    </p:embeddedFont>
    <p:embeddedFont>
      <p:font typeface="Manrope SemiBold"/>
      <p:regular r:id="rId201315"/>
    </p:embeddedFont>
    <p:embeddedFont>
      <p:font typeface="Manrope Bold"/>
      <p:regular r:id="rId201316"/>
    </p:embeddedFont>
    <p:embeddedFont>
      <p:font typeface="Space Grotesk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BHARATSEVA AI is an AI-powered multilingual government scheme assistant. The goal is simple: help every citizen find the right scheme, the right information, and a clearer path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is not the absence of benefits. It is the distance between a citizen and the information needed to use them: fragmented portals, language barriers, complex eligibility criteria, and unclear documents or application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informational and practical. Citizens may know that support exists, but still struggle to identify the right scheme, understand the procedure, and reach the correct official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turns a complex search into a guided conversation. It can answer in regional languages, explain criteria simply, use citizen-provided details to suggest potentially relevant schemes, prepare document checklists, and point to verified official portals. It remains informational guidance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is designed around the citizen’s experience, not around a portal’s structure. Six capabilities work together: multilingual conversation, discovery, eligibility explanation, document preparation, verified links, and a mobile-friendly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begins with a citizen’s question or basic details. The system identifies the query and language, searches a curated knowledge base, matches against published criteria, explains the result, and returns verified official links with application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stack is practical and scalable: React.js, HTML, CSS, and JavaScript at the frontend; Python with FastAPI or Flask at the backend; an LLM API, multilingual NLP, and translation where needed; and PostgreSQL, MySQL, or Firebase for the data layer. The flow stays grounded in curated sources and official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becomes tangible in everyday situations: farmers discovering potentially relevant agricultural assistance, students exploring scholarships, senior citizens finding pension information, and rural families understanding welfare schemes. A pilot should evaluate accuracy, links, time, language understanding, and ease of use without implying proven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is part of the product. Responses should be grounded in official sources, communicate uncertainty, minimize data, and clearly state that BharatSeva AI has no government affiliation and cannot guarantee eligibility. Future scope includes more Indian languages, voice, low-bandwidth access, screen readers, broader coverage, and feedback-driven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BharatSeva AI aims to make public services easier for every Indian by bridging the information gap with accessible, multilingual, AI-powered guidance.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4-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714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Shape 0"/>
          <p:cNvSpPr/>
          <p:nvPr/>
        </p:nvSpPr>
        <p:spPr>
          <a:xfrm>
            <a:off x="0" y="0"/>
            <a:ext cx="12191695" cy="6858000"/>
          </a:xfrm>
          <a:prstGeom prst="rect">
            <a:avLst/>
          </a:prstGeom>
          <a:solidFill>
            <a:srgbClr val="000000">
              <a:alpha val="42000"/>
            </a:srgbClr>
          </a:solidFill>
          <a:ln/>
        </p:spPr>
      </p:sp>
      <p:pic>
        <p:nvPicPr>
          <p:cNvPr id="5"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714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7142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Shape 0"/>
          <p:cNvSpPr/>
          <p:nvPr/>
        </p:nvSpPr>
        <p:spPr>
          <a:xfrm>
            <a:off x="0" y="0"/>
            <a:ext cx="12191695" cy="6858000"/>
          </a:xfrm>
          <a:prstGeom prst="rect">
            <a:avLst/>
          </a:prstGeom>
          <a:solidFill>
            <a:srgbClr val="000000">
              <a:alpha val="46000"/>
            </a:srgbClr>
          </a:solidFill>
          <a:ln/>
        </p:spPr>
      </p:sp>
      <p:pic>
        <p:nvPicPr>
          <p:cNvPr id="5"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jpe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2-4.png"/><Relationship Id="rId5" Type="http://schemas.openxmlformats.org/officeDocument/2006/relationships/image" Target="../media/image-4-5.png"/><Relationship Id="rId6" Type="http://schemas.openxmlformats.org/officeDocument/2006/relationships/image" Target="../media/image-4-6.jpe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2-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image" Target="../media/image-8-4.jpe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9-3.png"/><Relationship Id="rId4" Type="http://schemas.openxmlformats.org/officeDocument/2006/relationships/image" Target="../media/image-9-4.jpe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87380" y="947356"/>
            <a:ext cx="6984825" cy="198338"/>
          </a:xfrm>
          <a:prstGeom prst="rect">
            <a:avLst/>
          </a:prstGeom>
          <a:noFill/>
          <a:ln/>
        </p:spPr>
        <p:txBody>
          <a:bodyPr wrap="none" lIns="0" tIns="0" rIns="0" bIns="0" rtlCol="0" anchor="t"/>
          <a:lstStyle/>
          <a:p>
            <a:pPr algn="l" indent="0" marL="0">
              <a:lnSpc>
                <a:spcPct val="118000"/>
              </a:lnSpc>
              <a:buNone/>
            </a:pPr>
            <a:r>
              <a:rPr lang="en-US" sz="1100" spc="154" kern="100" dirty="0">
                <a:solidFill>
                  <a:srgbClr val="42D9FF"/>
                </a:solidFill>
                <a:latin typeface="Manrope" pitchFamily="34" charset="0"/>
                <a:ea typeface="Manrope" pitchFamily="34" charset="-122"/>
                <a:cs typeface="Manrope" pitchFamily="34" charset="-120"/>
              </a:rPr>
              <a:t>AI FOR BHARAT</a:t>
            </a:r>
            <a:endParaRPr lang="en-US" sz="1100" dirty="0"/>
          </a:p>
        </p:txBody>
      </p:sp>
      <p:sp>
        <p:nvSpPr>
          <p:cNvPr id="3" name="Text 1"/>
          <p:cNvSpPr/>
          <p:nvPr/>
        </p:nvSpPr>
        <p:spPr>
          <a:xfrm>
            <a:off x="787380" y="1314351"/>
            <a:ext cx="6375241" cy="2133600"/>
          </a:xfrm>
          <a:prstGeom prst="rect">
            <a:avLst/>
          </a:prstGeom>
          <a:noFill/>
          <a:ln/>
        </p:spPr>
        <p:txBody>
          <a:bodyPr wrap="square" lIns="0" tIns="0" rIns="0" bIns="0" rtlCol="0" anchor="t">
            <a:normAutofit/>
          </a:bodyPr>
          <a:lstStyle/>
          <a:p>
            <a:pPr algn="l" indent="0" marL="0">
              <a:lnSpc>
                <a:spcPct val="83000"/>
              </a:lnSpc>
              <a:buNone/>
            </a:pPr>
            <a:r>
              <a:rPr lang="en-US" sz="8400" b="1" spc="-126" kern="100" dirty="0">
                <a:solidFill>
                  <a:srgbClr val="F2F7FF"/>
                </a:solidFill>
                <a:latin typeface="Space Grotesk Bold" pitchFamily="34" charset="0"/>
                <a:ea typeface="Space Grotesk Bold" pitchFamily="34" charset="-122"/>
                <a:cs typeface="Space Grotesk Bold" pitchFamily="34" charset="-120"/>
              </a:rPr>
              <a:t>BHARATSEVA AI</a:t>
            </a:r>
            <a:endParaRPr lang="en-US" sz="8400" dirty="0"/>
          </a:p>
        </p:txBody>
      </p:sp>
      <p:sp>
        <p:nvSpPr>
          <p:cNvPr id="4" name="Text 2"/>
          <p:cNvSpPr/>
          <p:nvPr/>
        </p:nvSpPr>
        <p:spPr>
          <a:xfrm>
            <a:off x="787380" y="3543264"/>
            <a:ext cx="6984825" cy="342602"/>
          </a:xfrm>
          <a:prstGeom prst="rect">
            <a:avLst/>
          </a:prstGeom>
          <a:noFill/>
          <a:ln/>
        </p:spPr>
        <p:txBody>
          <a:bodyPr wrap="none" lIns="0" tIns="0" rIns="0" bIns="0" rtlCol="0" anchor="t"/>
          <a:lstStyle/>
          <a:p>
            <a:pPr algn="l" indent="0" marL="0">
              <a:lnSpc>
                <a:spcPct val="118000"/>
              </a:lnSpc>
              <a:buNone/>
            </a:pPr>
            <a:r>
              <a:rPr lang="en-US" sz="1900" dirty="0">
                <a:solidFill>
                  <a:srgbClr val="FFFFFF"/>
                </a:solidFill>
                <a:latin typeface="Manrope" pitchFamily="34" charset="0"/>
                <a:ea typeface="Manrope" pitchFamily="34" charset="-122"/>
                <a:cs typeface="Manrope" pitchFamily="34" charset="-120"/>
              </a:rPr>
              <a:t>AI-Powered Multilingual Government Scheme Assistant</a:t>
            </a:r>
            <a:endParaRPr lang="en-US" sz="1900" dirty="0"/>
          </a:p>
        </p:txBody>
      </p:sp>
      <p:sp>
        <p:nvSpPr>
          <p:cNvPr id="5" name="Shape 3"/>
          <p:cNvSpPr/>
          <p:nvPr/>
        </p:nvSpPr>
        <p:spPr>
          <a:xfrm>
            <a:off x="787380" y="4101703"/>
            <a:ext cx="2103782" cy="31651"/>
          </a:xfrm>
          <a:prstGeom prst="roundRect">
            <a:avLst>
              <a:gd name="adj" fmla="val 49998"/>
            </a:avLst>
          </a:prstGeom>
          <a:solidFill>
            <a:srgbClr val="42D9FF"/>
          </a:solidFill>
          <a:ln/>
        </p:spPr>
      </p:sp>
      <p:sp>
        <p:nvSpPr>
          <p:cNvPr id="6" name="Text 4"/>
          <p:cNvSpPr/>
          <p:nvPr/>
        </p:nvSpPr>
        <p:spPr>
          <a:xfrm>
            <a:off x="1066773" y="4439142"/>
            <a:ext cx="6705432" cy="288528"/>
          </a:xfrm>
          <a:prstGeom prst="rect">
            <a:avLst/>
          </a:prstGeom>
          <a:noFill/>
          <a:ln/>
        </p:spPr>
        <p:txBody>
          <a:bodyPr wrap="none" lIns="0" tIns="0" rIns="0" bIns="0" rtlCol="0" anchor="t"/>
          <a:lstStyle/>
          <a:p>
            <a:pPr algn="l" indent="0" marL="0">
              <a:lnSpc>
                <a:spcPct val="118000"/>
              </a:lnSpc>
              <a:buNone/>
            </a:pPr>
            <a:r>
              <a:rPr lang="en-US" sz="1600" dirty="0">
                <a:solidFill>
                  <a:srgbClr val="FFFFFF"/>
                </a:solidFill>
                <a:latin typeface="Manrope" pitchFamily="34" charset="0"/>
                <a:ea typeface="Manrope" pitchFamily="34" charset="-122"/>
                <a:cs typeface="Manrope" pitchFamily="34" charset="-120"/>
              </a:rPr>
              <a:t>“The Right Scheme. The Right Information. Every Citizen.”</a:t>
            </a:r>
            <a:endParaRPr lang="en-US" sz="1600" dirty="0"/>
          </a:p>
        </p:txBody>
      </p:sp>
      <p:sp>
        <p:nvSpPr>
          <p:cNvPr id="7" name="Shape 5"/>
          <p:cNvSpPr/>
          <p:nvPr/>
        </p:nvSpPr>
        <p:spPr>
          <a:xfrm>
            <a:off x="787380" y="4354116"/>
            <a:ext cx="50799" cy="440928"/>
          </a:xfrm>
          <a:prstGeom prst="roundRect">
            <a:avLst>
              <a:gd name="adj" fmla="val 33750"/>
            </a:avLst>
          </a:prstGeom>
          <a:solidFill>
            <a:srgbClr val="42D9FF"/>
          </a:solidFill>
          <a:ln/>
        </p:spPr>
      </p:sp>
      <p:sp>
        <p:nvSpPr>
          <p:cNvPr id="8" name="Text 6"/>
          <p:cNvSpPr/>
          <p:nvPr/>
        </p:nvSpPr>
        <p:spPr>
          <a:xfrm>
            <a:off x="787380" y="4971542"/>
            <a:ext cx="6984825" cy="189309"/>
          </a:xfrm>
          <a:prstGeom prst="rect">
            <a:avLst/>
          </a:prstGeom>
          <a:noFill/>
          <a:ln/>
        </p:spPr>
        <p:txBody>
          <a:bodyPr wrap="none" lIns="0" tIns="0" rIns="0" bIns="0" rtlCol="0" anchor="t"/>
          <a:lstStyle/>
          <a:p>
            <a:pPr algn="l" indent="0" marL="0">
              <a:lnSpc>
                <a:spcPct val="118000"/>
              </a:lnSpc>
              <a:buNone/>
            </a:pPr>
            <a:r>
              <a:rPr lang="en-US" sz="1050" dirty="0">
                <a:solidFill>
                  <a:srgbClr val="FFFFFF"/>
                </a:solidFill>
                <a:latin typeface="Manrope" pitchFamily="34" charset="0"/>
                <a:ea typeface="Manrope" pitchFamily="34" charset="-122"/>
                <a:cs typeface="Manrope" pitchFamily="34" charset="-120"/>
              </a:rPr>
              <a:t>Team: [Team Name] · [Members] · [College] · [Hackathon]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7156"/>
            <a:ext cx="6039989" cy="198338"/>
          </a:xfrm>
          <a:prstGeom prst="rect">
            <a:avLst/>
          </a:prstGeom>
          <a:noFill/>
          <a:ln/>
        </p:spPr>
        <p:txBody>
          <a:bodyPr wrap="none" lIns="0" tIns="0" rIns="0" bIns="0" rtlCol="0" anchor="t"/>
          <a:lstStyle/>
          <a:p>
            <a:pPr algn="l" indent="0" marL="0">
              <a:lnSpc>
                <a:spcPct val="118000"/>
              </a:lnSpc>
              <a:buNone/>
            </a:pPr>
            <a:r>
              <a:rPr lang="en-US" sz="1100" spc="154" kern="100" dirty="0">
                <a:solidFill>
                  <a:srgbClr val="42D9FF"/>
                </a:solidFill>
                <a:latin typeface="Manrope" pitchFamily="34" charset="0"/>
                <a:ea typeface="Manrope" pitchFamily="34" charset="-122"/>
                <a:cs typeface="Manrope" pitchFamily="34" charset="-120"/>
              </a:rPr>
              <a:t>THE ACCESS GAP</a:t>
            </a:r>
            <a:endParaRPr lang="en-US" sz="1100" dirty="0"/>
          </a:p>
        </p:txBody>
      </p:sp>
      <p:sp>
        <p:nvSpPr>
          <p:cNvPr id="3" name="Text 1"/>
          <p:cNvSpPr/>
          <p:nvPr/>
        </p:nvSpPr>
        <p:spPr>
          <a:xfrm>
            <a:off x="609585" y="926429"/>
            <a:ext cx="5430404" cy="1321296"/>
          </a:xfrm>
          <a:prstGeom prst="rect">
            <a:avLst/>
          </a:prstGeom>
          <a:noFill/>
          <a:ln/>
        </p:spPr>
        <p:txBody>
          <a:bodyPr wrap="square" lIns="0" tIns="0" rIns="0" bIns="0" rtlCol="0" anchor="t">
            <a:normAutofit/>
          </a:bodyPr>
          <a:lstStyle/>
          <a:p>
            <a:pPr algn="l" indent="0" marL="0">
              <a:lnSpc>
                <a:spcPct val="85000"/>
              </a:lnSpc>
              <a:buNone/>
            </a:pPr>
            <a:r>
              <a:rPr lang="en-US" sz="3400" b="1" spc="-51" kern="100" dirty="0">
                <a:solidFill>
                  <a:srgbClr val="F2F7FF"/>
                </a:solidFill>
                <a:latin typeface="Space Grotesk Bold" pitchFamily="34" charset="0"/>
                <a:ea typeface="Space Grotesk Bold" pitchFamily="34" charset="-122"/>
                <a:cs typeface="Space Grotesk Bold" pitchFamily="34" charset="-120"/>
              </a:rPr>
              <a:t>Government benefits exist. Accessing them is the challenge.</a:t>
            </a:r>
            <a:endParaRPr lang="en-US" sz="3400" dirty="0"/>
          </a:p>
        </p:txBody>
      </p:sp>
      <p:sp>
        <p:nvSpPr>
          <p:cNvPr id="4" name="Shape 2"/>
          <p:cNvSpPr/>
          <p:nvPr/>
        </p:nvSpPr>
        <p:spPr>
          <a:xfrm>
            <a:off x="609585" y="2395934"/>
            <a:ext cx="5430404" cy="3217863"/>
          </a:xfrm>
          <a:prstGeom prst="rect">
            <a:avLst/>
          </a:prstGeom>
          <a:solidFill>
            <a:srgbClr val="102746">
              <a:alpha val="72000"/>
            </a:srgbClr>
          </a:solidFill>
          <a:ln w="6350">
            <a:solidFill>
              <a:srgbClr val="42D9FF">
                <a:alpha val="24000"/>
              </a:srgbClr>
            </a:solidFill>
            <a:prstDash val="solid"/>
          </a:ln>
          <a:effectLst>
            <a:outerShdw sx="100000" sy="100000" kx="0" ky="0" algn="bl" rotWithShape="0" blurRad="284480" dist="93980" dir="5400000">
              <a:srgbClr val="000000">
                <a:alpha val="20000"/>
              </a:srgbClr>
            </a:outerShdw>
          </a:effectLst>
        </p:spPr>
      </p:sp>
      <p:pic>
        <p:nvPicPr>
          <p:cNvPr id="5" name="Image 0" descr="preencoded.png">    </p:cNvPr>
          <p:cNvPicPr>
            <a:picLocks noChangeAspect="1"/>
          </p:cNvPicPr>
          <p:nvPr/>
        </p:nvPicPr>
        <p:blipFill>
          <a:blip r:embed="rId1"/>
          <a:stretch>
            <a:fillRect/>
          </a:stretch>
        </p:blipFill>
        <p:spPr>
          <a:xfrm>
            <a:off x="768331" y="2554684"/>
            <a:ext cx="406390" cy="406400"/>
          </a:xfrm>
          <a:prstGeom prst="rect">
            <a:avLst/>
          </a:prstGeom>
        </p:spPr>
      </p:pic>
      <p:sp>
        <p:nvSpPr>
          <p:cNvPr id="6" name="Text 3"/>
          <p:cNvSpPr/>
          <p:nvPr/>
        </p:nvSpPr>
        <p:spPr>
          <a:xfrm>
            <a:off x="768331" y="3104300"/>
            <a:ext cx="2480208" cy="466328"/>
          </a:xfrm>
          <a:prstGeom prst="rect">
            <a:avLst/>
          </a:prstGeom>
          <a:noFill/>
          <a:ln/>
        </p:spPr>
        <p:txBody>
          <a:bodyPr wrap="square" lIns="0" tIns="0" rIns="0" bIns="0" rtlCol="0" anchor="t">
            <a:normAutofit/>
          </a:bodyPr>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Fragmented information</a:t>
            </a:r>
            <a:endParaRPr lang="en-US" sz="1800" dirty="0"/>
          </a:p>
        </p:txBody>
      </p:sp>
      <p:sp>
        <p:nvSpPr>
          <p:cNvPr id="7" name="Text 4"/>
          <p:cNvSpPr/>
          <p:nvPr/>
        </p:nvSpPr>
        <p:spPr>
          <a:xfrm>
            <a:off x="768331" y="3680873"/>
            <a:ext cx="2480208" cy="243384"/>
          </a:xfrm>
          <a:prstGeom prst="rect">
            <a:avLst/>
          </a:prstGeom>
          <a:noFill/>
          <a:ln/>
        </p:spPr>
        <p:txBody>
          <a:bodyPr wrap="none" lIns="0" tIns="0" rIns="0" bIns="0" rtlCol="0" anchor="t"/>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Across multiple portals.</a:t>
            </a:r>
            <a:endParaRPr lang="en-US" sz="1350" dirty="0"/>
          </a:p>
        </p:txBody>
      </p:sp>
      <p:pic>
        <p:nvPicPr>
          <p:cNvPr id="8" name="Image 1" descr="preencoded.png">    </p:cNvPr>
          <p:cNvPicPr>
            <a:picLocks noChangeAspect="1"/>
          </p:cNvPicPr>
          <p:nvPr/>
        </p:nvPicPr>
        <p:blipFill>
          <a:blip r:embed="rId2"/>
          <a:stretch>
            <a:fillRect/>
          </a:stretch>
        </p:blipFill>
        <p:spPr>
          <a:xfrm>
            <a:off x="3400935" y="2554684"/>
            <a:ext cx="406390" cy="406400"/>
          </a:xfrm>
          <a:prstGeom prst="rect">
            <a:avLst/>
          </a:prstGeom>
        </p:spPr>
      </p:pic>
      <p:sp>
        <p:nvSpPr>
          <p:cNvPr id="9" name="Text 5"/>
          <p:cNvSpPr/>
          <p:nvPr/>
        </p:nvSpPr>
        <p:spPr>
          <a:xfrm>
            <a:off x="3400935" y="3104300"/>
            <a:ext cx="2480307"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Language barriers</a:t>
            </a:r>
            <a:endParaRPr lang="en-US" sz="1800" dirty="0"/>
          </a:p>
        </p:txBody>
      </p:sp>
      <p:sp>
        <p:nvSpPr>
          <p:cNvPr id="10" name="Text 6"/>
          <p:cNvSpPr/>
          <p:nvPr/>
        </p:nvSpPr>
        <p:spPr>
          <a:xfrm>
            <a:off x="3400935" y="3447709"/>
            <a:ext cx="2480307" cy="486767"/>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Regional-language support is limited.</a:t>
            </a:r>
            <a:endParaRPr lang="en-US" sz="1350" dirty="0"/>
          </a:p>
        </p:txBody>
      </p:sp>
      <p:pic>
        <p:nvPicPr>
          <p:cNvPr id="11" name="Image 2" descr="preencoded.png">    </p:cNvPr>
          <p:cNvPicPr>
            <a:picLocks noChangeAspect="1"/>
          </p:cNvPicPr>
          <p:nvPr/>
        </p:nvPicPr>
        <p:blipFill>
          <a:blip r:embed="rId3"/>
          <a:stretch>
            <a:fillRect/>
          </a:stretch>
        </p:blipFill>
        <p:spPr>
          <a:xfrm>
            <a:off x="768331" y="4081066"/>
            <a:ext cx="406390" cy="406400"/>
          </a:xfrm>
          <a:prstGeom prst="rect">
            <a:avLst/>
          </a:prstGeom>
        </p:spPr>
      </p:pic>
      <p:sp>
        <p:nvSpPr>
          <p:cNvPr id="12" name="Text 7"/>
          <p:cNvSpPr/>
          <p:nvPr/>
        </p:nvSpPr>
        <p:spPr>
          <a:xfrm>
            <a:off x="768331" y="4630681"/>
            <a:ext cx="2480208"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Complex criteria</a:t>
            </a:r>
            <a:endParaRPr lang="en-US" sz="1800" dirty="0"/>
          </a:p>
        </p:txBody>
      </p:sp>
      <p:sp>
        <p:nvSpPr>
          <p:cNvPr id="13" name="Text 8"/>
          <p:cNvSpPr/>
          <p:nvPr/>
        </p:nvSpPr>
        <p:spPr>
          <a:xfrm>
            <a:off x="768331" y="4974090"/>
            <a:ext cx="2480208" cy="486767"/>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Official language makes eligibility hard to understand.</a:t>
            </a:r>
            <a:endParaRPr lang="en-US" sz="1350" dirty="0"/>
          </a:p>
        </p:txBody>
      </p:sp>
      <p:pic>
        <p:nvPicPr>
          <p:cNvPr id="14" name="Image 3" descr="preencoded.png">    </p:cNvPr>
          <p:cNvPicPr>
            <a:picLocks noChangeAspect="1"/>
          </p:cNvPicPr>
          <p:nvPr/>
        </p:nvPicPr>
        <p:blipFill>
          <a:blip r:embed="rId4"/>
          <a:stretch>
            <a:fillRect/>
          </a:stretch>
        </p:blipFill>
        <p:spPr>
          <a:xfrm>
            <a:off x="3400935" y="4081066"/>
            <a:ext cx="406390" cy="406400"/>
          </a:xfrm>
          <a:prstGeom prst="rect">
            <a:avLst/>
          </a:prstGeom>
        </p:spPr>
      </p:pic>
      <p:sp>
        <p:nvSpPr>
          <p:cNvPr id="15" name="Text 9"/>
          <p:cNvSpPr/>
          <p:nvPr/>
        </p:nvSpPr>
        <p:spPr>
          <a:xfrm>
            <a:off x="3400935" y="4630681"/>
            <a:ext cx="2480307"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Unclear next steps</a:t>
            </a:r>
            <a:endParaRPr lang="en-US" sz="1800" dirty="0"/>
          </a:p>
        </p:txBody>
      </p:sp>
      <p:sp>
        <p:nvSpPr>
          <p:cNvPr id="16" name="Text 10"/>
          <p:cNvSpPr/>
          <p:nvPr/>
        </p:nvSpPr>
        <p:spPr>
          <a:xfrm>
            <a:off x="3400935" y="4974090"/>
            <a:ext cx="2480307" cy="486767"/>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Documents and application paths are unclear.</a:t>
            </a:r>
            <a:endParaRPr lang="en-US" sz="1350" dirty="0"/>
          </a:p>
        </p:txBody>
      </p:sp>
      <p:pic>
        <p:nvPicPr>
          <p:cNvPr id="17" name="Image 4" descr="preencoded.png">    </p:cNvPr>
          <p:cNvPicPr>
            <a:picLocks noChangeAspect="1"/>
          </p:cNvPicPr>
          <p:nvPr/>
        </p:nvPicPr>
        <p:blipFill>
          <a:blip r:embed="rId5"/>
          <a:stretch>
            <a:fillRect/>
          </a:stretch>
        </p:blipFill>
        <p:spPr>
          <a:xfrm>
            <a:off x="7106663" y="0"/>
            <a:ext cx="5085032"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7156"/>
            <a:ext cx="11582110" cy="198338"/>
          </a:xfrm>
          <a:prstGeom prst="rect">
            <a:avLst/>
          </a:prstGeom>
          <a:noFill/>
          <a:ln/>
        </p:spPr>
        <p:txBody>
          <a:bodyPr wrap="none" lIns="0" tIns="0" rIns="0" bIns="0" rtlCol="0" anchor="t"/>
          <a:lstStyle/>
          <a:p>
            <a:pPr algn="l" indent="0" marL="0">
              <a:lnSpc>
                <a:spcPct val="118000"/>
              </a:lnSpc>
              <a:buNone/>
            </a:pPr>
            <a:r>
              <a:rPr lang="en-US" sz="1100" spc="154" kern="100" dirty="0">
                <a:solidFill>
                  <a:srgbClr val="42D9FF"/>
                </a:solidFill>
                <a:latin typeface="Manrope" pitchFamily="34" charset="0"/>
                <a:ea typeface="Manrope" pitchFamily="34" charset="-122"/>
                <a:cs typeface="Manrope" pitchFamily="34" charset="-120"/>
              </a:rPr>
              <a:t>THE GAP</a:t>
            </a:r>
            <a:endParaRPr lang="en-US" sz="1100" dirty="0"/>
          </a:p>
        </p:txBody>
      </p:sp>
      <p:sp>
        <p:nvSpPr>
          <p:cNvPr id="3" name="Text 1"/>
          <p:cNvSpPr/>
          <p:nvPr/>
        </p:nvSpPr>
        <p:spPr>
          <a:xfrm>
            <a:off x="609585" y="926429"/>
            <a:ext cx="10972526" cy="880864"/>
          </a:xfrm>
          <a:prstGeom prst="rect">
            <a:avLst/>
          </a:prstGeom>
          <a:noFill/>
          <a:ln/>
        </p:spPr>
        <p:txBody>
          <a:bodyPr wrap="square" lIns="0" tIns="0" rIns="0" bIns="0" rtlCol="0" anchor="t">
            <a:normAutofit/>
          </a:bodyPr>
          <a:lstStyle/>
          <a:p>
            <a:pPr algn="l" indent="0" marL="0">
              <a:lnSpc>
                <a:spcPct val="85000"/>
              </a:lnSpc>
              <a:buNone/>
            </a:pPr>
            <a:r>
              <a:rPr lang="en-US" sz="3400" b="1" spc="-51" kern="100" dirty="0">
                <a:solidFill>
                  <a:srgbClr val="F2F7FF"/>
                </a:solidFill>
                <a:latin typeface="Space Grotesk Bold" pitchFamily="34" charset="0"/>
                <a:ea typeface="Space Grotesk Bold" pitchFamily="34" charset="-122"/>
                <a:cs typeface="Space Grotesk Bold" pitchFamily="34" charset="-120"/>
              </a:rPr>
              <a:t>Bridging the gap between citizens and government services</a:t>
            </a:r>
            <a:endParaRPr lang="en-US" sz="3400" dirty="0"/>
          </a:p>
        </p:txBody>
      </p:sp>
      <p:sp>
        <p:nvSpPr>
          <p:cNvPr id="4" name="Text 2"/>
          <p:cNvSpPr/>
          <p:nvPr/>
        </p:nvSpPr>
        <p:spPr>
          <a:xfrm>
            <a:off x="609585" y="2506563"/>
            <a:ext cx="4206075" cy="2419350"/>
          </a:xfrm>
          <a:prstGeom prst="rect">
            <a:avLst/>
          </a:prstGeom>
          <a:noFill/>
          <a:ln/>
        </p:spPr>
        <p:txBody>
          <a:bodyPr wrap="square" lIns="0" tIns="0" rIns="0" bIns="0" rtlCol="0" anchor="t">
            <a:normAutofit/>
          </a:bodyPr>
          <a:lstStyle/>
          <a:p>
            <a:pPr algn="l" indent="0" marL="0">
              <a:lnSpc>
                <a:spcPct val="118000"/>
              </a:lnSpc>
              <a:spcAft>
                <a:spcPts val="850"/>
              </a:spcAft>
              <a:buNone/>
            </a:pPr>
            <a:r>
              <a:rPr lang="en-US" sz="1600" dirty="0">
                <a:solidFill>
                  <a:srgbClr val="C7D5EA"/>
                </a:solidFill>
                <a:latin typeface="Manrope" pitchFamily="34" charset="0"/>
                <a:ea typeface="Manrope" pitchFamily="34" charset="-122"/>
                <a:cs typeface="Manrope" pitchFamily="34" charset="-120"/>
              </a:rPr>
              <a:t>Many citizens face barriers caused by fragmented information, complex language, limited regional-language support, and unclear eligibility and document guidance.</a:t>
            </a:r>
            <a:endParaRPr lang="en-US" sz="1600" dirty="0"/>
          </a:p>
          <a:p>
            <a:pPr algn="l" indent="0" marL="0">
              <a:lnSpc>
                <a:spcPct val="118000"/>
              </a:lnSpc>
              <a:buNone/>
            </a:pPr>
            <a:r>
              <a:rPr lang="en-US" sz="1600" dirty="0">
                <a:solidFill>
                  <a:srgbClr val="C7D5EA"/>
                </a:solidFill>
                <a:latin typeface="Manrope" pitchFamily="34" charset="0"/>
                <a:ea typeface="Manrope" pitchFamily="34" charset="-122"/>
                <a:cs typeface="Manrope" pitchFamily="34" charset="-120"/>
              </a:rPr>
              <a:t>Impact: rural and underserved communities may struggle to identify relevant schemes, understand procedures, and find the correct official portals.</a:t>
            </a:r>
            <a:endParaRPr lang="en-US" sz="1600" dirty="0"/>
          </a:p>
        </p:txBody>
      </p:sp>
      <p:pic>
        <p:nvPicPr>
          <p:cNvPr id="5" name="Image 0" descr="preencoded.png">    </p:cNvPr>
          <p:cNvPicPr>
            <a:picLocks noChangeAspect="1"/>
          </p:cNvPicPr>
          <p:nvPr/>
        </p:nvPicPr>
        <p:blipFill>
          <a:blip r:embed="rId1"/>
          <a:stretch>
            <a:fillRect/>
          </a:stretch>
        </p:blipFill>
        <p:spPr>
          <a:xfrm>
            <a:off x="5272749" y="1955502"/>
            <a:ext cx="6309361" cy="35215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7156"/>
            <a:ext cx="6039989" cy="198338"/>
          </a:xfrm>
          <a:prstGeom prst="rect">
            <a:avLst/>
          </a:prstGeom>
          <a:noFill/>
          <a:ln/>
        </p:spPr>
        <p:txBody>
          <a:bodyPr wrap="none" lIns="0" tIns="0" rIns="0" bIns="0" rtlCol="0" anchor="t"/>
          <a:lstStyle/>
          <a:p>
            <a:pPr algn="l" indent="0" marL="0">
              <a:lnSpc>
                <a:spcPct val="118000"/>
              </a:lnSpc>
              <a:buNone/>
            </a:pPr>
            <a:r>
              <a:rPr lang="en-US" sz="1100" spc="154" kern="100" dirty="0">
                <a:solidFill>
                  <a:srgbClr val="42D9FF"/>
                </a:solidFill>
                <a:latin typeface="Manrope" pitchFamily="34" charset="0"/>
                <a:ea typeface="Manrope" pitchFamily="34" charset="-122"/>
                <a:cs typeface="Manrope" pitchFamily="34" charset="-120"/>
              </a:rPr>
              <a:t>THE ASSISTANT</a:t>
            </a:r>
            <a:endParaRPr lang="en-US" sz="1100" dirty="0"/>
          </a:p>
        </p:txBody>
      </p:sp>
      <p:sp>
        <p:nvSpPr>
          <p:cNvPr id="3" name="Text 1"/>
          <p:cNvSpPr/>
          <p:nvPr/>
        </p:nvSpPr>
        <p:spPr>
          <a:xfrm>
            <a:off x="609585" y="926429"/>
            <a:ext cx="5430404" cy="1321296"/>
          </a:xfrm>
          <a:prstGeom prst="rect">
            <a:avLst/>
          </a:prstGeom>
          <a:noFill/>
          <a:ln/>
        </p:spPr>
        <p:txBody>
          <a:bodyPr wrap="square" lIns="0" tIns="0" rIns="0" bIns="0" rtlCol="0" anchor="t">
            <a:normAutofit/>
          </a:bodyPr>
          <a:lstStyle/>
          <a:p>
            <a:pPr algn="l" indent="0" marL="0">
              <a:lnSpc>
                <a:spcPct val="85000"/>
              </a:lnSpc>
              <a:buNone/>
            </a:pPr>
            <a:r>
              <a:rPr lang="en-US" sz="3400" b="1" spc="-51" kern="100" dirty="0">
                <a:solidFill>
                  <a:srgbClr val="F2F7FF"/>
                </a:solidFill>
                <a:latin typeface="Space Grotesk Bold" pitchFamily="34" charset="0"/>
                <a:ea typeface="Space Grotesk Bold" pitchFamily="34" charset="-122"/>
                <a:cs typeface="Space Grotesk Bold" pitchFamily="34" charset="-120"/>
              </a:rPr>
              <a:t>One intelligent assistant. Simpler access for every citizen.</a:t>
            </a:r>
            <a:endParaRPr lang="en-US" sz="3400" dirty="0"/>
          </a:p>
        </p:txBody>
      </p:sp>
      <p:sp>
        <p:nvSpPr>
          <p:cNvPr id="4" name="Shape 2"/>
          <p:cNvSpPr/>
          <p:nvPr/>
        </p:nvSpPr>
        <p:spPr>
          <a:xfrm>
            <a:off x="609585" y="2395934"/>
            <a:ext cx="5430404" cy="2507357"/>
          </a:xfrm>
          <a:prstGeom prst="rect">
            <a:avLst/>
          </a:prstGeom>
          <a:solidFill>
            <a:srgbClr val="102746">
              <a:alpha val="72000"/>
            </a:srgbClr>
          </a:solidFill>
          <a:ln w="6350">
            <a:solidFill>
              <a:srgbClr val="42D9FF">
                <a:alpha val="24000"/>
              </a:srgbClr>
            </a:solidFill>
            <a:prstDash val="solid"/>
          </a:ln>
          <a:effectLst>
            <a:outerShdw sx="100000" sy="100000" kx="0" ky="0" algn="bl" rotWithShape="0" blurRad="284480" dist="93980" dir="5400000">
              <a:srgbClr val="000000">
                <a:alpha val="20000"/>
              </a:srgbClr>
            </a:outerShdw>
          </a:effectLst>
        </p:spPr>
      </p:sp>
      <p:pic>
        <p:nvPicPr>
          <p:cNvPr id="5" name="Image 0" descr="preencoded.png">    </p:cNvPr>
          <p:cNvPicPr>
            <a:picLocks noChangeAspect="1"/>
          </p:cNvPicPr>
          <p:nvPr/>
        </p:nvPicPr>
        <p:blipFill>
          <a:blip r:embed="rId1"/>
          <a:stretch>
            <a:fillRect/>
          </a:stretch>
        </p:blipFill>
        <p:spPr>
          <a:xfrm>
            <a:off x="615935" y="2402296"/>
            <a:ext cx="406390" cy="406400"/>
          </a:xfrm>
          <a:prstGeom prst="rect">
            <a:avLst/>
          </a:prstGeom>
        </p:spPr>
      </p:pic>
      <p:sp>
        <p:nvSpPr>
          <p:cNvPr id="6" name="Text 3"/>
          <p:cNvSpPr/>
          <p:nvPr/>
        </p:nvSpPr>
        <p:spPr>
          <a:xfrm>
            <a:off x="1225519" y="2408095"/>
            <a:ext cx="2023020" cy="486767"/>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Answer questions in regional languages</a:t>
            </a:r>
            <a:endParaRPr lang="en-US" sz="1350" dirty="0"/>
          </a:p>
        </p:txBody>
      </p:sp>
      <p:pic>
        <p:nvPicPr>
          <p:cNvPr id="7" name="Image 1" descr="preencoded.png">    </p:cNvPr>
          <p:cNvPicPr>
            <a:picLocks noChangeAspect="1"/>
          </p:cNvPicPr>
          <p:nvPr/>
        </p:nvPicPr>
        <p:blipFill>
          <a:blip r:embed="rId2"/>
          <a:stretch>
            <a:fillRect/>
          </a:stretch>
        </p:blipFill>
        <p:spPr>
          <a:xfrm>
            <a:off x="3400935" y="2402296"/>
            <a:ext cx="406390" cy="406400"/>
          </a:xfrm>
          <a:prstGeom prst="rect">
            <a:avLst/>
          </a:prstGeom>
        </p:spPr>
      </p:pic>
      <p:sp>
        <p:nvSpPr>
          <p:cNvPr id="8" name="Text 4"/>
          <p:cNvSpPr/>
          <p:nvPr/>
        </p:nvSpPr>
        <p:spPr>
          <a:xfrm>
            <a:off x="4010520" y="2408095"/>
            <a:ext cx="2023119" cy="486767"/>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Explain eligibility criteria in simple terms</a:t>
            </a:r>
            <a:endParaRPr lang="en-US" sz="1350" dirty="0"/>
          </a:p>
        </p:txBody>
      </p:sp>
      <p:pic>
        <p:nvPicPr>
          <p:cNvPr id="9" name="Image 2" descr="preencoded.png">    </p:cNvPr>
          <p:cNvPicPr>
            <a:picLocks noChangeAspect="1"/>
          </p:cNvPicPr>
          <p:nvPr/>
        </p:nvPicPr>
        <p:blipFill>
          <a:blip r:embed="rId3"/>
          <a:stretch>
            <a:fillRect/>
          </a:stretch>
        </p:blipFill>
        <p:spPr>
          <a:xfrm>
            <a:off x="615935" y="3284550"/>
            <a:ext cx="406390" cy="406400"/>
          </a:xfrm>
          <a:prstGeom prst="rect">
            <a:avLst/>
          </a:prstGeom>
        </p:spPr>
      </p:pic>
      <p:sp>
        <p:nvSpPr>
          <p:cNvPr id="10" name="Text 5"/>
          <p:cNvSpPr/>
          <p:nvPr/>
        </p:nvSpPr>
        <p:spPr>
          <a:xfrm>
            <a:off x="1225519" y="3290348"/>
            <a:ext cx="2023020" cy="730151"/>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Recommend potentially relevant schemes from user-provided details</a:t>
            </a:r>
            <a:endParaRPr lang="en-US" sz="1350" dirty="0"/>
          </a:p>
        </p:txBody>
      </p:sp>
      <p:pic>
        <p:nvPicPr>
          <p:cNvPr id="11" name="Image 3" descr="preencoded.png">    </p:cNvPr>
          <p:cNvPicPr>
            <a:picLocks noChangeAspect="1"/>
          </p:cNvPicPr>
          <p:nvPr/>
        </p:nvPicPr>
        <p:blipFill>
          <a:blip r:embed="rId4"/>
          <a:stretch>
            <a:fillRect/>
          </a:stretch>
        </p:blipFill>
        <p:spPr>
          <a:xfrm>
            <a:off x="3400935" y="3284550"/>
            <a:ext cx="406390" cy="406400"/>
          </a:xfrm>
          <a:prstGeom prst="rect">
            <a:avLst/>
          </a:prstGeom>
        </p:spPr>
      </p:pic>
      <p:sp>
        <p:nvSpPr>
          <p:cNvPr id="12" name="Text 6"/>
          <p:cNvSpPr/>
          <p:nvPr/>
        </p:nvSpPr>
        <p:spPr>
          <a:xfrm>
            <a:off x="4010520" y="3290348"/>
            <a:ext cx="2023119" cy="486767"/>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Generate document checklists</a:t>
            </a:r>
            <a:endParaRPr lang="en-US" sz="1350" dirty="0"/>
          </a:p>
        </p:txBody>
      </p:sp>
      <p:pic>
        <p:nvPicPr>
          <p:cNvPr id="13" name="Image 4" descr="preencoded.png">    </p:cNvPr>
          <p:cNvPicPr>
            <a:picLocks noChangeAspect="1"/>
          </p:cNvPicPr>
          <p:nvPr/>
        </p:nvPicPr>
        <p:blipFill>
          <a:blip r:embed="rId5"/>
          <a:stretch>
            <a:fillRect/>
          </a:stretch>
        </p:blipFill>
        <p:spPr>
          <a:xfrm>
            <a:off x="615935" y="4167001"/>
            <a:ext cx="406390" cy="406400"/>
          </a:xfrm>
          <a:prstGeom prst="rect">
            <a:avLst/>
          </a:prstGeom>
        </p:spPr>
      </p:pic>
      <p:sp>
        <p:nvSpPr>
          <p:cNvPr id="14" name="Text 7"/>
          <p:cNvSpPr/>
          <p:nvPr/>
        </p:nvSpPr>
        <p:spPr>
          <a:xfrm>
            <a:off x="1225519" y="4172799"/>
            <a:ext cx="4808120" cy="243384"/>
          </a:xfrm>
          <a:prstGeom prst="rect">
            <a:avLst/>
          </a:prstGeom>
          <a:noFill/>
          <a:ln/>
        </p:spPr>
        <p:txBody>
          <a:bodyPr wrap="none" lIns="0" tIns="0" rIns="0" bIns="0" rtlCol="0" anchor="t"/>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Guide users to verified official application portals</a:t>
            </a:r>
            <a:endParaRPr lang="en-US" sz="1350" dirty="0"/>
          </a:p>
        </p:txBody>
      </p:sp>
      <p:sp>
        <p:nvSpPr>
          <p:cNvPr id="15" name="Shape 8"/>
          <p:cNvSpPr/>
          <p:nvPr/>
        </p:nvSpPr>
        <p:spPr>
          <a:xfrm>
            <a:off x="609585" y="5074741"/>
            <a:ext cx="5430404" cy="994767"/>
          </a:xfrm>
          <a:prstGeom prst="roundRect">
            <a:avLst>
              <a:gd name="adj" fmla="val 18384"/>
            </a:avLst>
          </a:prstGeom>
          <a:solidFill>
            <a:srgbClr val="4B3F02"/>
          </a:solidFill>
          <a:ln/>
        </p:spPr>
      </p:sp>
      <p:sp>
        <p:nvSpPr>
          <p:cNvPr id="16" name="Text 9"/>
          <p:cNvSpPr/>
          <p:nvPr/>
        </p:nvSpPr>
        <p:spPr>
          <a:xfrm>
            <a:off x="812780" y="5334552"/>
            <a:ext cx="5024014" cy="486767"/>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FFFFFF"/>
                </a:solidFill>
                <a:latin typeface="Manrope" pitchFamily="34" charset="0"/>
                <a:ea typeface="Manrope" pitchFamily="34" charset="-122"/>
                <a:cs typeface="Manrope" pitchFamily="34" charset="-120"/>
              </a:rPr>
              <a:t>Informational guidance only; no guarantee of eligibility and no claim of government authority.</a:t>
            </a:r>
            <a:endParaRPr lang="en-US" sz="1350" dirty="0"/>
          </a:p>
        </p:txBody>
      </p:sp>
      <p:pic>
        <p:nvPicPr>
          <p:cNvPr id="17" name="Image 5" descr="preencoded.png">    </p:cNvPr>
          <p:cNvPicPr>
            <a:picLocks noChangeAspect="1"/>
          </p:cNvPicPr>
          <p:nvPr/>
        </p:nvPicPr>
        <p:blipFill>
          <a:blip r:embed="rId6"/>
          <a:stretch>
            <a:fillRect/>
          </a:stretch>
        </p:blipFill>
        <p:spPr>
          <a:xfrm>
            <a:off x="7106663" y="0"/>
            <a:ext cx="5085032"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7156"/>
            <a:ext cx="6235544" cy="198338"/>
          </a:xfrm>
          <a:prstGeom prst="rect">
            <a:avLst/>
          </a:prstGeom>
          <a:noFill/>
          <a:ln/>
        </p:spPr>
        <p:txBody>
          <a:bodyPr wrap="none" lIns="0" tIns="0" rIns="0" bIns="0" rtlCol="0" anchor="t"/>
          <a:lstStyle/>
          <a:p>
            <a:pPr algn="l" indent="0" marL="0">
              <a:lnSpc>
                <a:spcPct val="118000"/>
              </a:lnSpc>
              <a:buNone/>
            </a:pPr>
            <a:r>
              <a:rPr lang="en-US" sz="1100" spc="154" kern="100" dirty="0">
                <a:solidFill>
                  <a:srgbClr val="42D9FF"/>
                </a:solidFill>
                <a:latin typeface="Manrope" pitchFamily="34" charset="0"/>
                <a:ea typeface="Manrope" pitchFamily="34" charset="-122"/>
                <a:cs typeface="Manrope" pitchFamily="34" charset="-120"/>
              </a:rPr>
              <a:t>CITIZEN-CENTERED DESIGN</a:t>
            </a:r>
            <a:endParaRPr lang="en-US" sz="1100" dirty="0"/>
          </a:p>
        </p:txBody>
      </p:sp>
      <p:sp>
        <p:nvSpPr>
          <p:cNvPr id="3" name="Text 1"/>
          <p:cNvSpPr/>
          <p:nvPr/>
        </p:nvSpPr>
        <p:spPr>
          <a:xfrm>
            <a:off x="609585" y="926429"/>
            <a:ext cx="5625959" cy="880864"/>
          </a:xfrm>
          <a:prstGeom prst="rect">
            <a:avLst/>
          </a:prstGeom>
          <a:noFill/>
          <a:ln/>
        </p:spPr>
        <p:txBody>
          <a:bodyPr wrap="square" lIns="0" tIns="0" rIns="0" bIns="0" rtlCol="0" anchor="t">
            <a:normAutofit/>
          </a:bodyPr>
          <a:lstStyle/>
          <a:p>
            <a:pPr algn="l" indent="0" marL="0">
              <a:lnSpc>
                <a:spcPct val="85000"/>
              </a:lnSpc>
              <a:buNone/>
            </a:pPr>
            <a:r>
              <a:rPr lang="en-US" sz="3400" b="1" spc="-51" kern="100" dirty="0">
                <a:solidFill>
                  <a:srgbClr val="F2F7FF"/>
                </a:solidFill>
                <a:latin typeface="Space Grotesk Bold" pitchFamily="34" charset="0"/>
                <a:ea typeface="Space Grotesk Bold" pitchFamily="34" charset="-122"/>
                <a:cs typeface="Space Grotesk Bold" pitchFamily="34" charset="-120"/>
              </a:rPr>
              <a:t>Intelligence designed around citizens</a:t>
            </a:r>
            <a:endParaRPr lang="en-US" sz="3400" dirty="0"/>
          </a:p>
        </p:txBody>
      </p:sp>
      <p:sp>
        <p:nvSpPr>
          <p:cNvPr id="4" name="Shape 2"/>
          <p:cNvSpPr/>
          <p:nvPr/>
        </p:nvSpPr>
        <p:spPr>
          <a:xfrm>
            <a:off x="609585" y="1955502"/>
            <a:ext cx="5625959" cy="3472259"/>
          </a:xfrm>
          <a:prstGeom prst="rect">
            <a:avLst/>
          </a:prstGeom>
          <a:solidFill>
            <a:srgbClr val="102746">
              <a:alpha val="72000"/>
            </a:srgbClr>
          </a:solidFill>
          <a:ln w="6350">
            <a:solidFill>
              <a:srgbClr val="42D9FF">
                <a:alpha val="24000"/>
              </a:srgbClr>
            </a:solidFill>
            <a:prstDash val="solid"/>
          </a:ln>
          <a:effectLst>
            <a:outerShdw sx="100000" sy="100000" kx="0" ky="0" algn="bl" rotWithShape="0" blurRad="284480" dist="93980" dir="5400000">
              <a:srgbClr val="000000">
                <a:alpha val="20000"/>
              </a:srgbClr>
            </a:outerShdw>
          </a:effectLst>
        </p:spPr>
      </p:sp>
      <p:pic>
        <p:nvPicPr>
          <p:cNvPr id="5" name="Image 0" descr="preencoded.png">    </p:cNvPr>
          <p:cNvPicPr>
            <a:picLocks noChangeAspect="1"/>
          </p:cNvPicPr>
          <p:nvPr/>
        </p:nvPicPr>
        <p:blipFill>
          <a:blip r:embed="rId1"/>
          <a:stretch>
            <a:fillRect/>
          </a:stretch>
        </p:blipFill>
        <p:spPr>
          <a:xfrm>
            <a:off x="717532" y="2063452"/>
            <a:ext cx="406390" cy="325041"/>
          </a:xfrm>
          <a:prstGeom prst="rect">
            <a:avLst/>
          </a:prstGeom>
        </p:spPr>
      </p:pic>
      <p:sp>
        <p:nvSpPr>
          <p:cNvPr id="6" name="Text 3"/>
          <p:cNvSpPr/>
          <p:nvPr/>
        </p:nvSpPr>
        <p:spPr>
          <a:xfrm>
            <a:off x="717532" y="2531709"/>
            <a:ext cx="2628834"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Multilingual AI chatbot</a:t>
            </a:r>
            <a:endParaRPr lang="en-US" sz="1800" dirty="0"/>
          </a:p>
        </p:txBody>
      </p:sp>
      <p:pic>
        <p:nvPicPr>
          <p:cNvPr id="7" name="Image 1" descr="preencoded.png">    </p:cNvPr>
          <p:cNvPicPr>
            <a:picLocks noChangeAspect="1"/>
          </p:cNvPicPr>
          <p:nvPr/>
        </p:nvPicPr>
        <p:blipFill>
          <a:blip r:embed="rId2"/>
          <a:stretch>
            <a:fillRect/>
          </a:stretch>
        </p:blipFill>
        <p:spPr>
          <a:xfrm>
            <a:off x="3498762" y="2063452"/>
            <a:ext cx="406390" cy="406400"/>
          </a:xfrm>
          <a:prstGeom prst="rect">
            <a:avLst/>
          </a:prstGeom>
        </p:spPr>
      </p:pic>
      <p:sp>
        <p:nvSpPr>
          <p:cNvPr id="8" name="Text 4"/>
          <p:cNvSpPr/>
          <p:nvPr/>
        </p:nvSpPr>
        <p:spPr>
          <a:xfrm>
            <a:off x="3498762" y="2613068"/>
            <a:ext cx="2628834"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Smart scheme discovery</a:t>
            </a:r>
            <a:endParaRPr lang="en-US" sz="1800" dirty="0"/>
          </a:p>
        </p:txBody>
      </p:sp>
      <p:pic>
        <p:nvPicPr>
          <p:cNvPr id="9" name="Image 2" descr="preencoded.png">    </p:cNvPr>
          <p:cNvPicPr>
            <a:picLocks noChangeAspect="1"/>
          </p:cNvPicPr>
          <p:nvPr/>
        </p:nvPicPr>
        <p:blipFill>
          <a:blip r:embed="rId3"/>
          <a:stretch>
            <a:fillRect/>
          </a:stretch>
        </p:blipFill>
        <p:spPr>
          <a:xfrm>
            <a:off x="717532" y="3199606"/>
            <a:ext cx="406390" cy="406400"/>
          </a:xfrm>
          <a:prstGeom prst="rect">
            <a:avLst/>
          </a:prstGeom>
        </p:spPr>
      </p:pic>
      <p:sp>
        <p:nvSpPr>
          <p:cNvPr id="10" name="Text 5"/>
          <p:cNvSpPr/>
          <p:nvPr/>
        </p:nvSpPr>
        <p:spPr>
          <a:xfrm>
            <a:off x="717532" y="3749222"/>
            <a:ext cx="2628834"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Eligibility explainer</a:t>
            </a:r>
            <a:endParaRPr lang="en-US" sz="1800" dirty="0"/>
          </a:p>
        </p:txBody>
      </p:sp>
      <p:pic>
        <p:nvPicPr>
          <p:cNvPr id="11" name="Image 3" descr="preencoded.png">    </p:cNvPr>
          <p:cNvPicPr>
            <a:picLocks noChangeAspect="1"/>
          </p:cNvPicPr>
          <p:nvPr/>
        </p:nvPicPr>
        <p:blipFill>
          <a:blip r:embed="rId4"/>
          <a:stretch>
            <a:fillRect/>
          </a:stretch>
        </p:blipFill>
        <p:spPr>
          <a:xfrm>
            <a:off x="3498762" y="3199606"/>
            <a:ext cx="406390" cy="406400"/>
          </a:xfrm>
          <a:prstGeom prst="rect">
            <a:avLst/>
          </a:prstGeom>
        </p:spPr>
      </p:pic>
      <p:sp>
        <p:nvSpPr>
          <p:cNvPr id="12" name="Text 6"/>
          <p:cNvSpPr/>
          <p:nvPr/>
        </p:nvSpPr>
        <p:spPr>
          <a:xfrm>
            <a:off x="3498762" y="3749222"/>
            <a:ext cx="2628834"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Document checklist</a:t>
            </a:r>
            <a:endParaRPr lang="en-US" sz="1800" dirty="0"/>
          </a:p>
        </p:txBody>
      </p:sp>
      <p:pic>
        <p:nvPicPr>
          <p:cNvPr id="13" name="Image 4" descr="preencoded.png">    </p:cNvPr>
          <p:cNvPicPr>
            <a:picLocks noChangeAspect="1"/>
          </p:cNvPicPr>
          <p:nvPr/>
        </p:nvPicPr>
        <p:blipFill>
          <a:blip r:embed="rId5"/>
          <a:stretch>
            <a:fillRect/>
          </a:stretch>
        </p:blipFill>
        <p:spPr>
          <a:xfrm>
            <a:off x="717532" y="4335959"/>
            <a:ext cx="406390" cy="406400"/>
          </a:xfrm>
          <a:prstGeom prst="rect">
            <a:avLst/>
          </a:prstGeom>
        </p:spPr>
      </p:pic>
      <p:sp>
        <p:nvSpPr>
          <p:cNvPr id="14" name="Text 7"/>
          <p:cNvSpPr/>
          <p:nvPr/>
        </p:nvSpPr>
        <p:spPr>
          <a:xfrm>
            <a:off x="717532" y="4885574"/>
            <a:ext cx="2628834"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Verified official links</a:t>
            </a:r>
            <a:endParaRPr lang="en-US" sz="1800" dirty="0"/>
          </a:p>
        </p:txBody>
      </p:sp>
      <p:pic>
        <p:nvPicPr>
          <p:cNvPr id="15" name="Image 5" descr="preencoded.png">    </p:cNvPr>
          <p:cNvPicPr>
            <a:picLocks noChangeAspect="1"/>
          </p:cNvPicPr>
          <p:nvPr/>
        </p:nvPicPr>
        <p:blipFill>
          <a:blip r:embed="rId6"/>
          <a:stretch>
            <a:fillRect/>
          </a:stretch>
        </p:blipFill>
        <p:spPr>
          <a:xfrm>
            <a:off x="3498762" y="4335959"/>
            <a:ext cx="406390" cy="406400"/>
          </a:xfrm>
          <a:prstGeom prst="rect">
            <a:avLst/>
          </a:prstGeom>
        </p:spPr>
      </p:pic>
      <p:sp>
        <p:nvSpPr>
          <p:cNvPr id="16" name="Text 8"/>
          <p:cNvSpPr/>
          <p:nvPr/>
        </p:nvSpPr>
        <p:spPr>
          <a:xfrm>
            <a:off x="3498762" y="4885574"/>
            <a:ext cx="2628834" cy="466328"/>
          </a:xfrm>
          <a:prstGeom prst="rect">
            <a:avLst/>
          </a:prstGeom>
          <a:noFill/>
          <a:ln/>
        </p:spPr>
        <p:txBody>
          <a:bodyPr wrap="square" lIns="0" tIns="0" rIns="0" bIns="0" rtlCol="0" anchor="t">
            <a:normAutofit/>
          </a:bodyPr>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Accessible, mobile-friendly interface</a:t>
            </a:r>
            <a:endParaRPr lang="en-US" sz="1800" dirty="0"/>
          </a:p>
        </p:txBody>
      </p:sp>
      <p:pic>
        <p:nvPicPr>
          <p:cNvPr id="17" name="Image 6" descr="preencoded.png">    </p:cNvPr>
          <p:cNvPicPr>
            <a:picLocks noChangeAspect="1"/>
          </p:cNvPicPr>
          <p:nvPr/>
        </p:nvPicPr>
        <p:blipFill>
          <a:blip r:embed="rId7"/>
          <a:stretch>
            <a:fillRect/>
          </a:stretch>
        </p:blipFill>
        <p:spPr>
          <a:xfrm>
            <a:off x="7302317" y="0"/>
            <a:ext cx="488937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7156"/>
            <a:ext cx="11582110" cy="198338"/>
          </a:xfrm>
          <a:prstGeom prst="rect">
            <a:avLst/>
          </a:prstGeom>
          <a:noFill/>
          <a:ln/>
        </p:spPr>
        <p:txBody>
          <a:bodyPr wrap="none" lIns="0" tIns="0" rIns="0" bIns="0" rtlCol="0" anchor="t"/>
          <a:lstStyle/>
          <a:p>
            <a:pPr algn="l" indent="0" marL="0">
              <a:lnSpc>
                <a:spcPct val="118000"/>
              </a:lnSpc>
              <a:buNone/>
            </a:pPr>
            <a:r>
              <a:rPr lang="en-US" sz="1100" spc="154" kern="100" dirty="0">
                <a:solidFill>
                  <a:srgbClr val="42D9FF"/>
                </a:solidFill>
                <a:latin typeface="Manrope" pitchFamily="34" charset="0"/>
                <a:ea typeface="Manrope" pitchFamily="34" charset="-122"/>
                <a:cs typeface="Manrope" pitchFamily="34" charset="-120"/>
              </a:rPr>
              <a:t>THE JOURNEY</a:t>
            </a:r>
            <a:endParaRPr lang="en-US" sz="1100" dirty="0"/>
          </a:p>
        </p:txBody>
      </p:sp>
      <p:sp>
        <p:nvSpPr>
          <p:cNvPr id="3" name="Text 1"/>
          <p:cNvSpPr/>
          <p:nvPr/>
        </p:nvSpPr>
        <p:spPr>
          <a:xfrm>
            <a:off x="609585" y="926429"/>
            <a:ext cx="10972526" cy="440432"/>
          </a:xfrm>
          <a:prstGeom prst="rect">
            <a:avLst/>
          </a:prstGeom>
          <a:noFill/>
          <a:ln/>
        </p:spPr>
        <p:txBody>
          <a:bodyPr wrap="none" lIns="0" tIns="0" rIns="0" bIns="0" rtlCol="0" anchor="t"/>
          <a:lstStyle/>
          <a:p>
            <a:pPr algn="l" indent="0" marL="0">
              <a:lnSpc>
                <a:spcPct val="85000"/>
              </a:lnSpc>
              <a:buNone/>
            </a:pPr>
            <a:r>
              <a:rPr lang="en-US" sz="3400" b="1" spc="-51" kern="100" dirty="0">
                <a:solidFill>
                  <a:srgbClr val="F2F7FF"/>
                </a:solidFill>
                <a:latin typeface="Space Grotesk Bold" pitchFamily="34" charset="0"/>
                <a:ea typeface="Space Grotesk Bold" pitchFamily="34" charset="-122"/>
                <a:cs typeface="Space Grotesk Bold" pitchFamily="34" charset="-120"/>
              </a:rPr>
              <a:t>From citizen query to clear guidance</a:t>
            </a:r>
            <a:endParaRPr lang="en-US" sz="3400" dirty="0"/>
          </a:p>
        </p:txBody>
      </p:sp>
      <p:pic>
        <p:nvPicPr>
          <p:cNvPr id="4" name="Image 0" descr="preencoded.png">    </p:cNvPr>
          <p:cNvPicPr>
            <a:picLocks noChangeAspect="1"/>
          </p:cNvPicPr>
          <p:nvPr/>
        </p:nvPicPr>
        <p:blipFill>
          <a:blip r:embed="rId1"/>
          <a:stretch>
            <a:fillRect/>
          </a:stretch>
        </p:blipFill>
        <p:spPr>
          <a:xfrm>
            <a:off x="609585" y="1515070"/>
            <a:ext cx="507987" cy="508000"/>
          </a:xfrm>
          <a:prstGeom prst="rect">
            <a:avLst/>
          </a:prstGeom>
        </p:spPr>
      </p:pic>
      <p:sp>
        <p:nvSpPr>
          <p:cNvPr id="5" name="Text 2"/>
          <p:cNvSpPr/>
          <p:nvPr/>
        </p:nvSpPr>
        <p:spPr>
          <a:xfrm>
            <a:off x="609585" y="2226611"/>
            <a:ext cx="3505112"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Citizen enters</a:t>
            </a:r>
            <a:endParaRPr lang="en-US" sz="1800" dirty="0"/>
          </a:p>
        </p:txBody>
      </p:sp>
      <p:sp>
        <p:nvSpPr>
          <p:cNvPr id="6" name="Text 3"/>
          <p:cNvSpPr/>
          <p:nvPr/>
        </p:nvSpPr>
        <p:spPr>
          <a:xfrm>
            <a:off x="609585" y="2573036"/>
            <a:ext cx="3505112" cy="288528"/>
          </a:xfrm>
          <a:prstGeom prst="rect">
            <a:avLst/>
          </a:prstGeom>
          <a:noFill/>
          <a:ln/>
        </p:spPr>
        <p:txBody>
          <a:bodyPr wrap="none" lIns="0" tIns="0" rIns="0" bIns="0" rtlCol="0" anchor="t"/>
          <a:lstStyle/>
          <a:p>
            <a:pPr algn="l" indent="0" marL="0">
              <a:lnSpc>
                <a:spcPct val="118000"/>
              </a:lnSpc>
              <a:buNone/>
            </a:pPr>
            <a:r>
              <a:rPr lang="en-US" sz="1600" dirty="0">
                <a:solidFill>
                  <a:srgbClr val="C7D5EA"/>
                </a:solidFill>
                <a:latin typeface="Manrope" pitchFamily="34" charset="0"/>
                <a:ea typeface="Manrope" pitchFamily="34" charset="-122"/>
                <a:cs typeface="Manrope" pitchFamily="34" charset="-120"/>
              </a:rPr>
              <a:t>A question or basic details</a:t>
            </a:r>
            <a:endParaRPr lang="en-US" sz="1600" dirty="0"/>
          </a:p>
        </p:txBody>
      </p:sp>
      <p:pic>
        <p:nvPicPr>
          <p:cNvPr id="7" name="Image 1" descr="preencoded.png">    </p:cNvPr>
          <p:cNvPicPr>
            <a:picLocks noChangeAspect="1"/>
          </p:cNvPicPr>
          <p:nvPr/>
        </p:nvPicPr>
        <p:blipFill>
          <a:blip r:embed="rId2"/>
          <a:stretch>
            <a:fillRect/>
          </a:stretch>
        </p:blipFill>
        <p:spPr>
          <a:xfrm>
            <a:off x="4419489" y="1515070"/>
            <a:ext cx="507987" cy="508000"/>
          </a:xfrm>
          <a:prstGeom prst="rect">
            <a:avLst/>
          </a:prstGeom>
        </p:spPr>
      </p:pic>
      <p:sp>
        <p:nvSpPr>
          <p:cNvPr id="8" name="Text 4"/>
          <p:cNvSpPr/>
          <p:nvPr/>
        </p:nvSpPr>
        <p:spPr>
          <a:xfrm>
            <a:off x="4419489" y="2226611"/>
            <a:ext cx="3352716"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AI identifies</a:t>
            </a:r>
            <a:endParaRPr lang="en-US" sz="1800" dirty="0"/>
          </a:p>
        </p:txBody>
      </p:sp>
      <p:sp>
        <p:nvSpPr>
          <p:cNvPr id="9" name="Text 5"/>
          <p:cNvSpPr/>
          <p:nvPr/>
        </p:nvSpPr>
        <p:spPr>
          <a:xfrm>
            <a:off x="4419489" y="2573036"/>
            <a:ext cx="3352716" cy="288528"/>
          </a:xfrm>
          <a:prstGeom prst="rect">
            <a:avLst/>
          </a:prstGeom>
          <a:noFill/>
          <a:ln/>
        </p:spPr>
        <p:txBody>
          <a:bodyPr wrap="none" lIns="0" tIns="0" rIns="0" bIns="0" rtlCol="0" anchor="t"/>
          <a:lstStyle/>
          <a:p>
            <a:pPr algn="l" indent="0" marL="0">
              <a:lnSpc>
                <a:spcPct val="118000"/>
              </a:lnSpc>
              <a:buNone/>
            </a:pPr>
            <a:r>
              <a:rPr lang="en-US" sz="1600" dirty="0">
                <a:solidFill>
                  <a:srgbClr val="C7D5EA"/>
                </a:solidFill>
                <a:latin typeface="Manrope" pitchFamily="34" charset="0"/>
                <a:ea typeface="Manrope" pitchFamily="34" charset="-122"/>
                <a:cs typeface="Manrope" pitchFamily="34" charset="-120"/>
              </a:rPr>
              <a:t>The query and supported language</a:t>
            </a:r>
            <a:endParaRPr lang="en-US" sz="1600" dirty="0"/>
          </a:p>
        </p:txBody>
      </p:sp>
      <p:pic>
        <p:nvPicPr>
          <p:cNvPr id="10" name="Image 2" descr="preencoded.png">    </p:cNvPr>
          <p:cNvPicPr>
            <a:picLocks noChangeAspect="1"/>
          </p:cNvPicPr>
          <p:nvPr/>
        </p:nvPicPr>
        <p:blipFill>
          <a:blip r:embed="rId3"/>
          <a:stretch>
            <a:fillRect/>
          </a:stretch>
        </p:blipFill>
        <p:spPr>
          <a:xfrm>
            <a:off x="8076998" y="1515070"/>
            <a:ext cx="507987" cy="508000"/>
          </a:xfrm>
          <a:prstGeom prst="rect">
            <a:avLst/>
          </a:prstGeom>
        </p:spPr>
      </p:pic>
      <p:sp>
        <p:nvSpPr>
          <p:cNvPr id="11" name="Text 6"/>
          <p:cNvSpPr/>
          <p:nvPr/>
        </p:nvSpPr>
        <p:spPr>
          <a:xfrm>
            <a:off x="8076998" y="2226611"/>
            <a:ext cx="3505112"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System searches</a:t>
            </a:r>
            <a:endParaRPr lang="en-US" sz="1800" dirty="0"/>
          </a:p>
        </p:txBody>
      </p:sp>
      <p:sp>
        <p:nvSpPr>
          <p:cNvPr id="12" name="Text 7"/>
          <p:cNvSpPr/>
          <p:nvPr/>
        </p:nvSpPr>
        <p:spPr>
          <a:xfrm>
            <a:off x="8076998" y="2573036"/>
            <a:ext cx="3505112" cy="288528"/>
          </a:xfrm>
          <a:prstGeom prst="rect">
            <a:avLst/>
          </a:prstGeom>
          <a:noFill/>
          <a:ln/>
        </p:spPr>
        <p:txBody>
          <a:bodyPr wrap="none" lIns="0" tIns="0" rIns="0" bIns="0" rtlCol="0" anchor="t"/>
          <a:lstStyle/>
          <a:p>
            <a:pPr algn="l" indent="0" marL="0">
              <a:lnSpc>
                <a:spcPct val="118000"/>
              </a:lnSpc>
              <a:buNone/>
            </a:pPr>
            <a:r>
              <a:rPr lang="en-US" sz="1600" dirty="0">
                <a:solidFill>
                  <a:srgbClr val="C7D5EA"/>
                </a:solidFill>
                <a:latin typeface="Manrope" pitchFamily="34" charset="0"/>
                <a:ea typeface="Manrope" pitchFamily="34" charset="-122"/>
                <a:cs typeface="Manrope" pitchFamily="34" charset="-120"/>
              </a:rPr>
              <a:t>A curated scheme knowledge base</a:t>
            </a:r>
            <a:endParaRPr lang="en-US" sz="1600" dirty="0"/>
          </a:p>
        </p:txBody>
      </p:sp>
      <p:pic>
        <p:nvPicPr>
          <p:cNvPr id="13" name="Image 3" descr="preencoded.png">    </p:cNvPr>
          <p:cNvPicPr>
            <a:picLocks noChangeAspect="1"/>
          </p:cNvPicPr>
          <p:nvPr/>
        </p:nvPicPr>
        <p:blipFill>
          <a:blip r:embed="rId4"/>
          <a:stretch>
            <a:fillRect/>
          </a:stretch>
        </p:blipFill>
        <p:spPr>
          <a:xfrm>
            <a:off x="609585" y="3157538"/>
            <a:ext cx="507987" cy="508000"/>
          </a:xfrm>
          <a:prstGeom prst="rect">
            <a:avLst/>
          </a:prstGeom>
        </p:spPr>
      </p:pic>
      <p:sp>
        <p:nvSpPr>
          <p:cNvPr id="14" name="Text 8"/>
          <p:cNvSpPr/>
          <p:nvPr/>
        </p:nvSpPr>
        <p:spPr>
          <a:xfrm>
            <a:off x="609585" y="3869078"/>
            <a:ext cx="3505112"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Schemes matched</a:t>
            </a:r>
            <a:endParaRPr lang="en-US" sz="1800" dirty="0"/>
          </a:p>
        </p:txBody>
      </p:sp>
      <p:sp>
        <p:nvSpPr>
          <p:cNvPr id="15" name="Text 9"/>
          <p:cNvSpPr/>
          <p:nvPr/>
        </p:nvSpPr>
        <p:spPr>
          <a:xfrm>
            <a:off x="609585" y="4215503"/>
            <a:ext cx="3505112" cy="577056"/>
          </a:xfrm>
          <a:prstGeom prst="rect">
            <a:avLst/>
          </a:prstGeom>
          <a:noFill/>
          <a:ln/>
        </p:spPr>
        <p:txBody>
          <a:bodyPr wrap="square" lIns="0" tIns="0" rIns="0" bIns="0" rtlCol="0" anchor="t">
            <a:normAutofit/>
          </a:bodyPr>
          <a:lstStyle/>
          <a:p>
            <a:pPr algn="l" indent="0" marL="0">
              <a:lnSpc>
                <a:spcPct val="118000"/>
              </a:lnSpc>
              <a:buNone/>
            </a:pPr>
            <a:r>
              <a:rPr lang="en-US" sz="1600" dirty="0">
                <a:solidFill>
                  <a:srgbClr val="C7D5EA"/>
                </a:solidFill>
                <a:latin typeface="Manrope" pitchFamily="34" charset="0"/>
                <a:ea typeface="Manrope" pitchFamily="34" charset="-122"/>
                <a:cs typeface="Manrope" pitchFamily="34" charset="-120"/>
              </a:rPr>
              <a:t>Potentially relevant schemes against published criteria</a:t>
            </a:r>
            <a:endParaRPr lang="en-US" sz="1600" dirty="0"/>
          </a:p>
        </p:txBody>
      </p:sp>
      <p:pic>
        <p:nvPicPr>
          <p:cNvPr id="16" name="Image 4" descr="preencoded.png">    </p:cNvPr>
          <p:cNvPicPr>
            <a:picLocks noChangeAspect="1"/>
          </p:cNvPicPr>
          <p:nvPr/>
        </p:nvPicPr>
        <p:blipFill>
          <a:blip r:embed="rId5"/>
          <a:stretch>
            <a:fillRect/>
          </a:stretch>
        </p:blipFill>
        <p:spPr>
          <a:xfrm>
            <a:off x="4419489" y="3157538"/>
            <a:ext cx="507987" cy="508000"/>
          </a:xfrm>
          <a:prstGeom prst="rect">
            <a:avLst/>
          </a:prstGeom>
        </p:spPr>
      </p:pic>
      <p:sp>
        <p:nvSpPr>
          <p:cNvPr id="17" name="Text 10"/>
          <p:cNvSpPr/>
          <p:nvPr/>
        </p:nvSpPr>
        <p:spPr>
          <a:xfrm>
            <a:off x="4419489" y="3869078"/>
            <a:ext cx="3352716"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AI explains</a:t>
            </a:r>
            <a:endParaRPr lang="en-US" sz="1800" dirty="0"/>
          </a:p>
        </p:txBody>
      </p:sp>
      <p:sp>
        <p:nvSpPr>
          <p:cNvPr id="18" name="Text 11"/>
          <p:cNvSpPr/>
          <p:nvPr/>
        </p:nvSpPr>
        <p:spPr>
          <a:xfrm>
            <a:off x="4419489" y="4215503"/>
            <a:ext cx="3352716" cy="577056"/>
          </a:xfrm>
          <a:prstGeom prst="rect">
            <a:avLst/>
          </a:prstGeom>
          <a:noFill/>
          <a:ln/>
        </p:spPr>
        <p:txBody>
          <a:bodyPr wrap="square" lIns="0" tIns="0" rIns="0" bIns="0" rtlCol="0" anchor="t">
            <a:normAutofit/>
          </a:bodyPr>
          <a:lstStyle/>
          <a:p>
            <a:pPr algn="l" indent="0" marL="0">
              <a:lnSpc>
                <a:spcPct val="118000"/>
              </a:lnSpc>
              <a:buNone/>
            </a:pPr>
            <a:r>
              <a:rPr lang="en-US" sz="1600" dirty="0">
                <a:solidFill>
                  <a:srgbClr val="C7D5EA"/>
                </a:solidFill>
                <a:latin typeface="Manrope" pitchFamily="34" charset="0"/>
                <a:ea typeface="Manrope" pitchFamily="34" charset="-122"/>
                <a:cs typeface="Manrope" pitchFamily="34" charset="-120"/>
              </a:rPr>
              <a:t>The scheme, eligibility, and required documents</a:t>
            </a:r>
            <a:endParaRPr lang="en-US" sz="1600" dirty="0"/>
          </a:p>
        </p:txBody>
      </p:sp>
      <p:pic>
        <p:nvPicPr>
          <p:cNvPr id="19" name="Image 5" descr="preencoded.png">    </p:cNvPr>
          <p:cNvPicPr>
            <a:picLocks noChangeAspect="1"/>
          </p:cNvPicPr>
          <p:nvPr/>
        </p:nvPicPr>
        <p:blipFill>
          <a:blip r:embed="rId6"/>
          <a:stretch>
            <a:fillRect/>
          </a:stretch>
        </p:blipFill>
        <p:spPr>
          <a:xfrm>
            <a:off x="8076998" y="3157538"/>
            <a:ext cx="507987" cy="508000"/>
          </a:xfrm>
          <a:prstGeom prst="rect">
            <a:avLst/>
          </a:prstGeom>
        </p:spPr>
      </p:pic>
      <p:sp>
        <p:nvSpPr>
          <p:cNvPr id="20" name="Text 12"/>
          <p:cNvSpPr/>
          <p:nvPr/>
        </p:nvSpPr>
        <p:spPr>
          <a:xfrm>
            <a:off x="8076998" y="3869078"/>
            <a:ext cx="3505112"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Citizen receives</a:t>
            </a:r>
            <a:endParaRPr lang="en-US" sz="1800" dirty="0"/>
          </a:p>
        </p:txBody>
      </p:sp>
      <p:sp>
        <p:nvSpPr>
          <p:cNvPr id="21" name="Text 13"/>
          <p:cNvSpPr/>
          <p:nvPr/>
        </p:nvSpPr>
        <p:spPr>
          <a:xfrm>
            <a:off x="8076998" y="4215503"/>
            <a:ext cx="3505112" cy="577056"/>
          </a:xfrm>
          <a:prstGeom prst="rect">
            <a:avLst/>
          </a:prstGeom>
          <a:noFill/>
          <a:ln/>
        </p:spPr>
        <p:txBody>
          <a:bodyPr wrap="square" lIns="0" tIns="0" rIns="0" bIns="0" rtlCol="0" anchor="t">
            <a:normAutofit/>
          </a:bodyPr>
          <a:lstStyle/>
          <a:p>
            <a:pPr algn="l" indent="0" marL="0">
              <a:lnSpc>
                <a:spcPct val="118000"/>
              </a:lnSpc>
              <a:buNone/>
            </a:pPr>
            <a:r>
              <a:rPr lang="en-US" sz="1600" dirty="0">
                <a:solidFill>
                  <a:srgbClr val="C7D5EA"/>
                </a:solidFill>
                <a:latin typeface="Manrope" pitchFamily="34" charset="0"/>
                <a:ea typeface="Manrope" pitchFamily="34" charset="-122"/>
                <a:cs typeface="Manrope" pitchFamily="34" charset="-120"/>
              </a:rPr>
              <a:t>Verified official source links and application guidance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7156"/>
            <a:ext cx="11582110" cy="198338"/>
          </a:xfrm>
          <a:prstGeom prst="rect">
            <a:avLst/>
          </a:prstGeom>
          <a:noFill/>
          <a:ln/>
        </p:spPr>
        <p:txBody>
          <a:bodyPr wrap="none" lIns="0" tIns="0" rIns="0" bIns="0" rtlCol="0" anchor="t"/>
          <a:lstStyle/>
          <a:p>
            <a:pPr algn="l" indent="0" marL="0">
              <a:lnSpc>
                <a:spcPct val="118000"/>
              </a:lnSpc>
              <a:buNone/>
            </a:pPr>
            <a:r>
              <a:rPr lang="en-US" sz="1100" spc="154" kern="100" dirty="0">
                <a:solidFill>
                  <a:srgbClr val="42D9FF"/>
                </a:solidFill>
                <a:latin typeface="Manrope" pitchFamily="34" charset="0"/>
                <a:ea typeface="Manrope" pitchFamily="34" charset="-122"/>
                <a:cs typeface="Manrope" pitchFamily="34" charset="-120"/>
              </a:rPr>
              <a:t>PROPOSED ARCHITECTURE</a:t>
            </a:r>
            <a:endParaRPr lang="en-US" sz="1100" dirty="0"/>
          </a:p>
        </p:txBody>
      </p:sp>
      <p:sp>
        <p:nvSpPr>
          <p:cNvPr id="3" name="Text 1"/>
          <p:cNvSpPr/>
          <p:nvPr/>
        </p:nvSpPr>
        <p:spPr>
          <a:xfrm>
            <a:off x="609585" y="926429"/>
            <a:ext cx="10972526" cy="440432"/>
          </a:xfrm>
          <a:prstGeom prst="rect">
            <a:avLst/>
          </a:prstGeom>
          <a:noFill/>
          <a:ln/>
        </p:spPr>
        <p:txBody>
          <a:bodyPr wrap="none" lIns="0" tIns="0" rIns="0" bIns="0" rtlCol="0" anchor="t"/>
          <a:lstStyle/>
          <a:p>
            <a:pPr algn="l" indent="0" marL="0">
              <a:lnSpc>
                <a:spcPct val="85000"/>
              </a:lnSpc>
              <a:buNone/>
            </a:pPr>
            <a:r>
              <a:rPr lang="en-US" sz="3400" b="1" spc="-51" kern="100" dirty="0">
                <a:solidFill>
                  <a:srgbClr val="F2F7FF"/>
                </a:solidFill>
                <a:latin typeface="Space Grotesk Bold" pitchFamily="34" charset="0"/>
                <a:ea typeface="Space Grotesk Bold" pitchFamily="34" charset="-122"/>
                <a:cs typeface="Space Grotesk Bold" pitchFamily="34" charset="-120"/>
              </a:rPr>
              <a:t>Built with practical, scalable AI technology</a:t>
            </a:r>
            <a:endParaRPr lang="en-US" sz="3400" dirty="0"/>
          </a:p>
        </p:txBody>
      </p:sp>
      <p:sp>
        <p:nvSpPr>
          <p:cNvPr id="4" name="Shape 2"/>
          <p:cNvSpPr/>
          <p:nvPr/>
        </p:nvSpPr>
        <p:spPr>
          <a:xfrm>
            <a:off x="609585" y="1515070"/>
            <a:ext cx="5333867" cy="4027984"/>
          </a:xfrm>
          <a:prstGeom prst="rect">
            <a:avLst/>
          </a:prstGeom>
          <a:solidFill>
            <a:srgbClr val="102746"/>
          </a:solidFill>
          <a:ln/>
        </p:spPr>
      </p:sp>
      <p:sp>
        <p:nvSpPr>
          <p:cNvPr id="5" name="Text 3"/>
          <p:cNvSpPr/>
          <p:nvPr/>
        </p:nvSpPr>
        <p:spPr>
          <a:xfrm>
            <a:off x="838179" y="1780246"/>
            <a:ext cx="4876678" cy="310852"/>
          </a:xfrm>
          <a:prstGeom prst="rect">
            <a:avLst/>
          </a:prstGeom>
          <a:noFill/>
          <a:ln/>
        </p:spPr>
        <p:txBody>
          <a:bodyPr wrap="none" lIns="0" tIns="0" rIns="0" bIns="0" rtlCol="0" anchor="t"/>
          <a:lstStyle/>
          <a:p>
            <a:pPr algn="l" indent="0" marL="0">
              <a:lnSpc>
                <a:spcPct val="85000"/>
              </a:lnSpc>
              <a:buNone/>
            </a:pPr>
            <a:r>
              <a:rPr lang="en-US" sz="2400" spc="-36" kern="100" dirty="0">
                <a:solidFill>
                  <a:srgbClr val="C7D5EA"/>
                </a:solidFill>
                <a:latin typeface="Manrope SemiBold" pitchFamily="34" charset="0"/>
                <a:ea typeface="Manrope SemiBold" pitchFamily="34" charset="-122"/>
                <a:cs typeface="Manrope SemiBold" pitchFamily="34" charset="-120"/>
              </a:rPr>
              <a:t>Proposed stack</a:t>
            </a:r>
            <a:endParaRPr lang="en-US" sz="2400" dirty="0"/>
          </a:p>
        </p:txBody>
      </p:sp>
      <p:sp>
        <p:nvSpPr>
          <p:cNvPr id="6" name="Text 4"/>
          <p:cNvSpPr/>
          <p:nvPr/>
        </p:nvSpPr>
        <p:spPr>
          <a:xfrm>
            <a:off x="838179" y="2191048"/>
            <a:ext cx="4876678" cy="3123406"/>
          </a:xfrm>
          <a:prstGeom prst="rect">
            <a:avLst/>
          </a:prstGeom>
          <a:noFill/>
          <a:ln/>
        </p:spPr>
        <p:txBody>
          <a:bodyPr wrap="square" lIns="0" tIns="0" rIns="0" bIns="0" rtlCol="0" anchor="t">
            <a:normAutofit/>
          </a:bodyPr>
          <a:lstStyle/>
          <a:p>
            <a:pPr algn="l" marL="325120" indent="-325120">
              <a:lnSpc>
                <a:spcPct val="118000"/>
              </a:lnSpc>
              <a:buSzPct val="100000"/>
              <a:buChar char="•"/>
            </a:pPr>
            <a:r>
              <a:rPr lang="en-US" sz="1600" dirty="0">
                <a:solidFill>
                  <a:srgbClr val="C7D5EA"/>
                </a:solidFill>
                <a:latin typeface="Manrope" pitchFamily="34" charset="0"/>
                <a:ea typeface="Manrope" pitchFamily="34" charset="-122"/>
                <a:cs typeface="Manrope" pitchFamily="34" charset="-120"/>
              </a:rPr>
              <a:t>Frontend: React.js, HTML, CSS, JavaScript</a:t>
            </a:r>
            <a:endParaRPr lang="en-US" sz="1600" dirty="0"/>
          </a:p>
          <a:p>
            <a:pPr algn="l" marL="325120" indent="-325120">
              <a:lnSpc>
                <a:spcPct val="118000"/>
              </a:lnSpc>
              <a:buSzPct val="100000"/>
              <a:buChar char="•"/>
            </a:pPr>
            <a:r>
              <a:rPr lang="en-US" sz="1600" dirty="0">
                <a:solidFill>
                  <a:srgbClr val="C7D5EA"/>
                </a:solidFill>
                <a:latin typeface="Manrope" pitchFamily="34" charset="0"/>
                <a:ea typeface="Manrope" pitchFamily="34" charset="-122"/>
                <a:cs typeface="Manrope" pitchFamily="34" charset="-120"/>
              </a:rPr>
              <a:t>Backend: Python with FastAPI or Flask</a:t>
            </a:r>
            <a:endParaRPr lang="en-US" sz="1600" dirty="0"/>
          </a:p>
          <a:p>
            <a:pPr algn="l" marL="325120" indent="-325120">
              <a:lnSpc>
                <a:spcPct val="118000"/>
              </a:lnSpc>
              <a:buSzPct val="100000"/>
              <a:buChar char="•"/>
            </a:pPr>
            <a:r>
              <a:rPr lang="en-US" sz="1600" dirty="0">
                <a:solidFill>
                  <a:srgbClr val="C7D5EA"/>
                </a:solidFill>
                <a:latin typeface="Manrope" pitchFamily="34" charset="0"/>
                <a:ea typeface="Manrope" pitchFamily="34" charset="-122"/>
                <a:cs typeface="Manrope" pitchFamily="34" charset="-120"/>
              </a:rPr>
              <a:t>AI and language processing: LLM API, multilingual NLP, translation where needed</a:t>
            </a:r>
            <a:endParaRPr lang="en-US" sz="1600" dirty="0"/>
          </a:p>
          <a:p>
            <a:pPr algn="l" marL="325120" indent="-325120">
              <a:lnSpc>
                <a:spcPct val="118000"/>
              </a:lnSpc>
              <a:buSzPct val="100000"/>
              <a:buChar char="•"/>
            </a:pPr>
            <a:r>
              <a:rPr lang="en-US" sz="1600" dirty="0">
                <a:solidFill>
                  <a:srgbClr val="C7D5EA"/>
                </a:solidFill>
                <a:latin typeface="Manrope" pitchFamily="34" charset="0"/>
                <a:ea typeface="Manrope" pitchFamily="34" charset="-122"/>
                <a:cs typeface="Manrope" pitchFamily="34" charset="-120"/>
              </a:rPr>
              <a:t>Data layer: PostgreSQL, MySQL, or Firebase</a:t>
            </a:r>
            <a:endParaRPr lang="en-US" sz="1600" dirty="0"/>
          </a:p>
          <a:p>
            <a:pPr algn="l" marL="325120" indent="-325120">
              <a:lnSpc>
                <a:spcPct val="118000"/>
              </a:lnSpc>
              <a:buSzPct val="100000"/>
              <a:buChar char="•"/>
            </a:pPr>
            <a:r>
              <a:rPr lang="en-US" sz="1600" dirty="0">
                <a:solidFill>
                  <a:srgbClr val="C7D5EA"/>
                </a:solidFill>
                <a:latin typeface="Manrope" pitchFamily="34" charset="0"/>
                <a:ea typeface="Manrope" pitchFamily="34" charset="-122"/>
                <a:cs typeface="Manrope" pitchFamily="34" charset="-120"/>
              </a:rPr>
              <a:t>Knowledge sources: curated government scheme data, verified official websites, eligibility rules, source URLs</a:t>
            </a:r>
            <a:endParaRPr lang="en-US" sz="1600" dirty="0"/>
          </a:p>
          <a:p>
            <a:pPr algn="l" marL="325120" indent="-325120">
              <a:lnSpc>
                <a:spcPct val="118000"/>
              </a:lnSpc>
              <a:buSzPct val="100000"/>
              <a:buChar char="•"/>
            </a:pPr>
            <a:r>
              <a:rPr lang="en-US" sz="1600" dirty="0">
                <a:solidFill>
                  <a:srgbClr val="C7D5EA"/>
                </a:solidFill>
                <a:latin typeface="Manrope" pitchFamily="34" charset="0"/>
                <a:ea typeface="Manrope" pitchFamily="34" charset="-122"/>
                <a:cs typeface="Manrope" pitchFamily="34" charset="-120"/>
              </a:rPr>
              <a:t>Optional: speech-to-text, text-to-speech, voice interaction, accessibility support</a:t>
            </a:r>
            <a:endParaRPr lang="en-US" sz="1600" dirty="0"/>
          </a:p>
        </p:txBody>
      </p:sp>
      <p:sp>
        <p:nvSpPr>
          <p:cNvPr id="7" name="Shape 5"/>
          <p:cNvSpPr/>
          <p:nvPr/>
        </p:nvSpPr>
        <p:spPr>
          <a:xfrm>
            <a:off x="6248244" y="1515070"/>
            <a:ext cx="5333867" cy="4027984"/>
          </a:xfrm>
          <a:prstGeom prst="rect">
            <a:avLst/>
          </a:prstGeom>
          <a:solidFill>
            <a:srgbClr val="102746"/>
          </a:solidFill>
          <a:ln/>
        </p:spPr>
      </p:sp>
      <p:sp>
        <p:nvSpPr>
          <p:cNvPr id="8" name="Text 6"/>
          <p:cNvSpPr/>
          <p:nvPr/>
        </p:nvSpPr>
        <p:spPr>
          <a:xfrm>
            <a:off x="6476838" y="1780246"/>
            <a:ext cx="4876678" cy="310852"/>
          </a:xfrm>
          <a:prstGeom prst="rect">
            <a:avLst/>
          </a:prstGeom>
          <a:noFill/>
          <a:ln/>
        </p:spPr>
        <p:txBody>
          <a:bodyPr wrap="none" lIns="0" tIns="0" rIns="0" bIns="0" rtlCol="0" anchor="t"/>
          <a:lstStyle/>
          <a:p>
            <a:pPr algn="l" indent="0" marL="0">
              <a:lnSpc>
                <a:spcPct val="85000"/>
              </a:lnSpc>
              <a:buNone/>
            </a:pPr>
            <a:r>
              <a:rPr lang="en-US" sz="2400" spc="-36" kern="100" dirty="0">
                <a:solidFill>
                  <a:srgbClr val="C7D5EA"/>
                </a:solidFill>
                <a:latin typeface="Manrope SemiBold" pitchFamily="34" charset="0"/>
                <a:ea typeface="Manrope SemiBold" pitchFamily="34" charset="-122"/>
                <a:cs typeface="Manrope SemiBold" pitchFamily="34" charset="-120"/>
              </a:rPr>
              <a:t>Architecture</a:t>
            </a:r>
            <a:endParaRPr lang="en-US" sz="2400" dirty="0"/>
          </a:p>
        </p:txBody>
      </p:sp>
      <p:sp>
        <p:nvSpPr>
          <p:cNvPr id="9" name="Text 7"/>
          <p:cNvSpPr/>
          <p:nvPr/>
        </p:nvSpPr>
        <p:spPr>
          <a:xfrm>
            <a:off x="6476838" y="2191048"/>
            <a:ext cx="4876678" cy="2686447"/>
          </a:xfrm>
          <a:prstGeom prst="rect">
            <a:avLst/>
          </a:prstGeom>
          <a:noFill/>
          <a:ln/>
        </p:spPr>
        <p:txBody>
          <a:bodyPr wrap="square" lIns="0" tIns="0" rIns="0" bIns="0" rtlCol="0" anchor="t"/>
          <a:lstStyle/>
          <a:p>
            <a:pPr algn="l" indent="0" marL="0">
              <a:lnSpc>
                <a:spcPct val="118000"/>
              </a:lnSpc>
              <a:spcAft>
                <a:spcPts val="850"/>
              </a:spcAft>
              <a:buNone/>
            </a:pPr>
            <a:r>
              <a:rPr lang="en-US" sz="1600" dirty="0">
                <a:solidFill>
                  <a:srgbClr val="C7D5EA"/>
                </a:solidFill>
                <a:latin typeface="Manrope" pitchFamily="34" charset="0"/>
                <a:ea typeface="Manrope" pitchFamily="34" charset="-122"/>
                <a:cs typeface="Manrope" pitchFamily="34" charset="-120"/>
              </a:rPr>
              <a:t>Citizen Interface →</a:t>
            </a:r>
            <a:endParaRPr lang="en-US" sz="1600" dirty="0"/>
          </a:p>
          <a:p>
            <a:pPr algn="l" indent="0" marL="0">
              <a:lnSpc>
                <a:spcPct val="118000"/>
              </a:lnSpc>
              <a:spcAft>
                <a:spcPts val="850"/>
              </a:spcAft>
              <a:buNone/>
            </a:pPr>
            <a:r>
              <a:rPr lang="en-US" sz="1600" dirty="0">
                <a:solidFill>
                  <a:srgbClr val="C7D5EA"/>
                </a:solidFill>
                <a:latin typeface="Manrope" pitchFamily="34" charset="0"/>
                <a:ea typeface="Manrope" pitchFamily="34" charset="-122"/>
                <a:cs typeface="Manrope" pitchFamily="34" charset="-120"/>
              </a:rPr>
              <a:t>Backend API →</a:t>
            </a:r>
            <a:endParaRPr lang="en-US" sz="1600" dirty="0"/>
          </a:p>
          <a:p>
            <a:pPr algn="l" indent="0" marL="0">
              <a:lnSpc>
                <a:spcPct val="118000"/>
              </a:lnSpc>
              <a:spcAft>
                <a:spcPts val="850"/>
              </a:spcAft>
              <a:buNone/>
            </a:pPr>
            <a:r>
              <a:rPr lang="en-US" sz="1600" dirty="0">
                <a:solidFill>
                  <a:srgbClr val="C7D5EA"/>
                </a:solidFill>
                <a:latin typeface="Manrope" pitchFamily="34" charset="0"/>
                <a:ea typeface="Manrope" pitchFamily="34" charset="-122"/>
                <a:cs typeface="Manrope" pitchFamily="34" charset="-120"/>
              </a:rPr>
              <a:t>Language Processing →</a:t>
            </a:r>
            <a:endParaRPr lang="en-US" sz="1600" dirty="0"/>
          </a:p>
          <a:p>
            <a:pPr algn="l" indent="0" marL="0">
              <a:lnSpc>
                <a:spcPct val="118000"/>
              </a:lnSpc>
              <a:spcAft>
                <a:spcPts val="850"/>
              </a:spcAft>
              <a:buNone/>
            </a:pPr>
            <a:r>
              <a:rPr lang="en-US" sz="1600" dirty="0">
                <a:solidFill>
                  <a:srgbClr val="C7D5EA"/>
                </a:solidFill>
                <a:latin typeface="Manrope" pitchFamily="34" charset="0"/>
                <a:ea typeface="Manrope" pitchFamily="34" charset="-122"/>
                <a:cs typeface="Manrope" pitchFamily="34" charset="-120"/>
              </a:rPr>
              <a:t>Scheme Knowledge Retrieval →</a:t>
            </a:r>
            <a:endParaRPr lang="en-US" sz="1600" dirty="0"/>
          </a:p>
          <a:p>
            <a:pPr algn="l" indent="0" marL="0">
              <a:lnSpc>
                <a:spcPct val="118000"/>
              </a:lnSpc>
              <a:spcAft>
                <a:spcPts val="850"/>
              </a:spcAft>
              <a:buNone/>
            </a:pPr>
            <a:r>
              <a:rPr lang="en-US" sz="1600" dirty="0">
                <a:solidFill>
                  <a:srgbClr val="C7D5EA"/>
                </a:solidFill>
                <a:latin typeface="Manrope" pitchFamily="34" charset="0"/>
                <a:ea typeface="Manrope" pitchFamily="34" charset="-122"/>
                <a:cs typeface="Manrope" pitchFamily="34" charset="-120"/>
              </a:rPr>
              <a:t>Eligibility Matching →</a:t>
            </a:r>
            <a:endParaRPr lang="en-US" sz="1600" dirty="0"/>
          </a:p>
          <a:p>
            <a:pPr algn="l" indent="0" marL="0">
              <a:lnSpc>
                <a:spcPct val="118000"/>
              </a:lnSpc>
              <a:spcAft>
                <a:spcPts val="850"/>
              </a:spcAft>
              <a:buNone/>
            </a:pPr>
            <a:r>
              <a:rPr lang="en-US" sz="1600" dirty="0">
                <a:solidFill>
                  <a:srgbClr val="C7D5EA"/>
                </a:solidFill>
                <a:latin typeface="Manrope" pitchFamily="34" charset="0"/>
                <a:ea typeface="Manrope" pitchFamily="34" charset="-122"/>
                <a:cs typeface="Manrope" pitchFamily="34" charset="-120"/>
              </a:rPr>
              <a:t>Grounded AI Response →</a:t>
            </a:r>
            <a:endParaRPr lang="en-US" sz="1600" dirty="0"/>
          </a:p>
          <a:p>
            <a:pPr algn="l" indent="0" marL="0">
              <a:lnSpc>
                <a:spcPct val="118000"/>
              </a:lnSpc>
              <a:buNone/>
            </a:pPr>
            <a:r>
              <a:rPr lang="en-US" sz="1600" dirty="0">
                <a:solidFill>
                  <a:srgbClr val="C7D5EA"/>
                </a:solidFill>
                <a:latin typeface="Manrope" pitchFamily="34" charset="0"/>
                <a:ea typeface="Manrope" pitchFamily="34" charset="-122"/>
                <a:cs typeface="Manrope" pitchFamily="34" charset="-120"/>
              </a:rPr>
              <a:t>Official Source Links</a:t>
            </a:r>
            <a:endParaRPr lang="en-US" sz="1600" dirty="0"/>
          </a:p>
        </p:txBody>
      </p:sp>
      <p:sp>
        <p:nvSpPr>
          <p:cNvPr id="10" name="Text 8"/>
          <p:cNvSpPr/>
          <p:nvPr/>
        </p:nvSpPr>
        <p:spPr>
          <a:xfrm>
            <a:off x="609585" y="5723330"/>
            <a:ext cx="11582110" cy="288528"/>
          </a:xfrm>
          <a:prstGeom prst="rect">
            <a:avLst/>
          </a:prstGeom>
          <a:noFill/>
          <a:ln/>
        </p:spPr>
        <p:txBody>
          <a:bodyPr wrap="none" lIns="0" tIns="0" rIns="0" bIns="0" rtlCol="0" anchor="t"/>
          <a:lstStyle/>
          <a:p>
            <a:pPr algn="l" indent="0" marL="0">
              <a:lnSpc>
                <a:spcPct val="118000"/>
              </a:lnSpc>
              <a:buNone/>
            </a:pPr>
            <a:r>
              <a:rPr lang="en-US" sz="1600" dirty="0">
                <a:solidFill>
                  <a:srgbClr val="C7D5EA"/>
                </a:solidFill>
                <a:latin typeface="Manrope" pitchFamily="34" charset="0"/>
                <a:ea typeface="Manrope" pitchFamily="34" charset="-122"/>
                <a:cs typeface="Manrope" pitchFamily="34" charset="-120"/>
              </a:rPr>
              <a:t>These are proposed implementation choices, not claimed completed integrations.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7156"/>
            <a:ext cx="11582110" cy="198338"/>
          </a:xfrm>
          <a:prstGeom prst="rect">
            <a:avLst/>
          </a:prstGeom>
          <a:noFill/>
          <a:ln/>
        </p:spPr>
        <p:txBody>
          <a:bodyPr wrap="none" lIns="0" tIns="0" rIns="0" bIns="0" rtlCol="0" anchor="t"/>
          <a:lstStyle/>
          <a:p>
            <a:pPr algn="l" indent="0" marL="0">
              <a:lnSpc>
                <a:spcPct val="118000"/>
              </a:lnSpc>
              <a:buNone/>
            </a:pPr>
            <a:r>
              <a:rPr lang="en-US" sz="1100" spc="154" kern="100" dirty="0">
                <a:solidFill>
                  <a:srgbClr val="42D9FF"/>
                </a:solidFill>
                <a:latin typeface="Manrope" pitchFamily="34" charset="0"/>
                <a:ea typeface="Manrope" pitchFamily="34" charset="-122"/>
                <a:cs typeface="Manrope" pitchFamily="34" charset="-120"/>
              </a:rPr>
              <a:t>PILOT USE CASES</a:t>
            </a:r>
            <a:endParaRPr lang="en-US" sz="1100" dirty="0"/>
          </a:p>
        </p:txBody>
      </p:sp>
      <p:sp>
        <p:nvSpPr>
          <p:cNvPr id="3" name="Text 1"/>
          <p:cNvSpPr/>
          <p:nvPr/>
        </p:nvSpPr>
        <p:spPr>
          <a:xfrm>
            <a:off x="609585" y="926429"/>
            <a:ext cx="10972526" cy="440432"/>
          </a:xfrm>
          <a:prstGeom prst="rect">
            <a:avLst/>
          </a:prstGeom>
          <a:noFill/>
          <a:ln/>
        </p:spPr>
        <p:txBody>
          <a:bodyPr wrap="none" lIns="0" tIns="0" rIns="0" bIns="0" rtlCol="0" anchor="t"/>
          <a:lstStyle/>
          <a:p>
            <a:pPr algn="l" indent="0" marL="0">
              <a:lnSpc>
                <a:spcPct val="85000"/>
              </a:lnSpc>
              <a:buNone/>
            </a:pPr>
            <a:r>
              <a:rPr lang="en-US" sz="3400" b="1" spc="-51" kern="100" dirty="0">
                <a:solidFill>
                  <a:srgbClr val="F2F7FF"/>
                </a:solidFill>
                <a:latin typeface="Space Grotesk Bold" pitchFamily="34" charset="0"/>
                <a:ea typeface="Space Grotesk Bold" pitchFamily="34" charset="-122"/>
                <a:cs typeface="Space Grotesk Bold" pitchFamily="34" charset="-120"/>
              </a:rPr>
              <a:t>AI that can make a real difference</a:t>
            </a:r>
            <a:endParaRPr lang="en-US" sz="3400" dirty="0"/>
          </a:p>
        </p:txBody>
      </p:sp>
      <p:sp>
        <p:nvSpPr>
          <p:cNvPr id="4" name="Shape 2"/>
          <p:cNvSpPr/>
          <p:nvPr/>
        </p:nvSpPr>
        <p:spPr>
          <a:xfrm>
            <a:off x="609585" y="1515070"/>
            <a:ext cx="2514537" cy="2684959"/>
          </a:xfrm>
          <a:prstGeom prst="rect">
            <a:avLst/>
          </a:prstGeom>
          <a:solidFill>
            <a:srgbClr val="102746">
              <a:alpha val="72000"/>
            </a:srgbClr>
          </a:solidFill>
          <a:ln w="6350">
            <a:solidFill>
              <a:srgbClr val="42D9FF">
                <a:alpha val="24000"/>
              </a:srgbClr>
            </a:solidFill>
            <a:prstDash val="solid"/>
          </a:ln>
          <a:effectLst>
            <a:outerShdw sx="100000" sy="100000" kx="0" ky="0" algn="bl" rotWithShape="0" blurRad="284480" dist="93980" dir="5400000">
              <a:srgbClr val="000000">
                <a:alpha val="20000"/>
              </a:srgbClr>
            </a:outerShdw>
          </a:effectLst>
        </p:spPr>
      </p:sp>
      <p:pic>
        <p:nvPicPr>
          <p:cNvPr id="5" name="Image 0" descr="preencoded.png">    </p:cNvPr>
          <p:cNvPicPr>
            <a:picLocks noChangeAspect="1"/>
          </p:cNvPicPr>
          <p:nvPr/>
        </p:nvPicPr>
        <p:blipFill>
          <a:blip r:embed="rId1"/>
          <a:stretch>
            <a:fillRect/>
          </a:stretch>
        </p:blipFill>
        <p:spPr>
          <a:xfrm>
            <a:off x="666733" y="1521420"/>
            <a:ext cx="2400240" cy="1350169"/>
          </a:xfrm>
          <a:prstGeom prst="rect">
            <a:avLst/>
          </a:prstGeom>
        </p:spPr>
      </p:pic>
      <p:sp>
        <p:nvSpPr>
          <p:cNvPr id="6" name="Text 3"/>
          <p:cNvSpPr/>
          <p:nvPr/>
        </p:nvSpPr>
        <p:spPr>
          <a:xfrm>
            <a:off x="666733" y="3075130"/>
            <a:ext cx="2400240"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Farmers</a:t>
            </a:r>
            <a:endParaRPr lang="en-US" sz="1800" dirty="0"/>
          </a:p>
        </p:txBody>
      </p:sp>
      <p:sp>
        <p:nvSpPr>
          <p:cNvPr id="7" name="Text 4"/>
          <p:cNvSpPr/>
          <p:nvPr/>
        </p:nvSpPr>
        <p:spPr>
          <a:xfrm>
            <a:off x="666733" y="3418538"/>
            <a:ext cx="2400240" cy="730151"/>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Potentially relevant agricultural assistance schemes</a:t>
            </a:r>
            <a:endParaRPr lang="en-US" sz="1350" dirty="0"/>
          </a:p>
        </p:txBody>
      </p:sp>
      <p:sp>
        <p:nvSpPr>
          <p:cNvPr id="8" name="Shape 5"/>
          <p:cNvSpPr/>
          <p:nvPr/>
        </p:nvSpPr>
        <p:spPr>
          <a:xfrm>
            <a:off x="3428914" y="1515070"/>
            <a:ext cx="2514537" cy="2684959"/>
          </a:xfrm>
          <a:prstGeom prst="rect">
            <a:avLst/>
          </a:prstGeom>
          <a:solidFill>
            <a:srgbClr val="102746">
              <a:alpha val="72000"/>
            </a:srgbClr>
          </a:solidFill>
          <a:ln w="6350">
            <a:solidFill>
              <a:srgbClr val="42D9FF">
                <a:alpha val="24000"/>
              </a:srgbClr>
            </a:solidFill>
            <a:prstDash val="solid"/>
          </a:ln>
          <a:effectLst>
            <a:outerShdw sx="100000" sy="100000" kx="0" ky="0" algn="bl" rotWithShape="0" blurRad="284480" dist="93980" dir="5400000">
              <a:srgbClr val="000000">
                <a:alpha val="20000"/>
              </a:srgbClr>
            </a:outerShdw>
          </a:effectLst>
        </p:spPr>
      </p:sp>
      <p:pic>
        <p:nvPicPr>
          <p:cNvPr id="9" name="Image 1" descr="preencoded.png">    </p:cNvPr>
          <p:cNvPicPr>
            <a:picLocks noChangeAspect="1"/>
          </p:cNvPicPr>
          <p:nvPr/>
        </p:nvPicPr>
        <p:blipFill>
          <a:blip r:embed="rId2"/>
          <a:stretch>
            <a:fillRect/>
          </a:stretch>
        </p:blipFill>
        <p:spPr>
          <a:xfrm>
            <a:off x="3486063" y="1521420"/>
            <a:ext cx="2400240" cy="1350169"/>
          </a:xfrm>
          <a:prstGeom prst="rect">
            <a:avLst/>
          </a:prstGeom>
        </p:spPr>
      </p:pic>
      <p:sp>
        <p:nvSpPr>
          <p:cNvPr id="10" name="Text 6"/>
          <p:cNvSpPr/>
          <p:nvPr/>
        </p:nvSpPr>
        <p:spPr>
          <a:xfrm>
            <a:off x="3486063" y="3075130"/>
            <a:ext cx="2400240"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Students</a:t>
            </a:r>
            <a:endParaRPr lang="en-US" sz="1800" dirty="0"/>
          </a:p>
        </p:txBody>
      </p:sp>
      <p:sp>
        <p:nvSpPr>
          <p:cNvPr id="11" name="Text 7"/>
          <p:cNvSpPr/>
          <p:nvPr/>
        </p:nvSpPr>
        <p:spPr>
          <a:xfrm>
            <a:off x="3486063" y="3418538"/>
            <a:ext cx="2457389" cy="243384"/>
          </a:xfrm>
          <a:prstGeom prst="rect">
            <a:avLst/>
          </a:prstGeom>
          <a:noFill/>
          <a:ln/>
        </p:spPr>
        <p:txBody>
          <a:bodyPr wrap="none" lIns="0" tIns="0" rIns="0" bIns="0" rtlCol="0" anchor="t"/>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Scholarship opportunities</a:t>
            </a:r>
            <a:endParaRPr lang="en-US" sz="1350" dirty="0"/>
          </a:p>
        </p:txBody>
      </p:sp>
      <p:sp>
        <p:nvSpPr>
          <p:cNvPr id="12" name="Shape 8"/>
          <p:cNvSpPr/>
          <p:nvPr/>
        </p:nvSpPr>
        <p:spPr>
          <a:xfrm>
            <a:off x="6248244" y="1515070"/>
            <a:ext cx="2514537" cy="2684959"/>
          </a:xfrm>
          <a:prstGeom prst="rect">
            <a:avLst/>
          </a:prstGeom>
          <a:solidFill>
            <a:srgbClr val="102746">
              <a:alpha val="72000"/>
            </a:srgbClr>
          </a:solidFill>
          <a:ln w="6350">
            <a:solidFill>
              <a:srgbClr val="42D9FF">
                <a:alpha val="24000"/>
              </a:srgbClr>
            </a:solidFill>
            <a:prstDash val="solid"/>
          </a:ln>
          <a:effectLst>
            <a:outerShdw sx="100000" sy="100000" kx="0" ky="0" algn="bl" rotWithShape="0" blurRad="284480" dist="93980" dir="5400000">
              <a:srgbClr val="000000">
                <a:alpha val="20000"/>
              </a:srgbClr>
            </a:outerShdw>
          </a:effectLst>
        </p:spPr>
      </p:sp>
      <p:pic>
        <p:nvPicPr>
          <p:cNvPr id="13" name="Image 2" descr="preencoded.png">    </p:cNvPr>
          <p:cNvPicPr>
            <a:picLocks noChangeAspect="1"/>
          </p:cNvPicPr>
          <p:nvPr/>
        </p:nvPicPr>
        <p:blipFill>
          <a:blip r:embed="rId3"/>
          <a:stretch>
            <a:fillRect/>
          </a:stretch>
        </p:blipFill>
        <p:spPr>
          <a:xfrm>
            <a:off x="6305392" y="1521420"/>
            <a:ext cx="2400240" cy="1350169"/>
          </a:xfrm>
          <a:prstGeom prst="rect">
            <a:avLst/>
          </a:prstGeom>
        </p:spPr>
      </p:pic>
      <p:sp>
        <p:nvSpPr>
          <p:cNvPr id="14" name="Text 9"/>
          <p:cNvSpPr/>
          <p:nvPr/>
        </p:nvSpPr>
        <p:spPr>
          <a:xfrm>
            <a:off x="6305392" y="3075130"/>
            <a:ext cx="2400240"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Senior citizens</a:t>
            </a:r>
            <a:endParaRPr lang="en-US" sz="1800" dirty="0"/>
          </a:p>
        </p:txBody>
      </p:sp>
      <p:sp>
        <p:nvSpPr>
          <p:cNvPr id="15" name="Text 10"/>
          <p:cNvSpPr/>
          <p:nvPr/>
        </p:nvSpPr>
        <p:spPr>
          <a:xfrm>
            <a:off x="6305392" y="3418538"/>
            <a:ext cx="2457389" cy="243384"/>
          </a:xfrm>
          <a:prstGeom prst="rect">
            <a:avLst/>
          </a:prstGeom>
          <a:noFill/>
          <a:ln/>
        </p:spPr>
        <p:txBody>
          <a:bodyPr wrap="none" lIns="0" tIns="0" rIns="0" bIns="0" rtlCol="0" anchor="t"/>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Pension information</a:t>
            </a:r>
            <a:endParaRPr lang="en-US" sz="1350" dirty="0"/>
          </a:p>
        </p:txBody>
      </p:sp>
      <p:sp>
        <p:nvSpPr>
          <p:cNvPr id="16" name="Shape 11"/>
          <p:cNvSpPr/>
          <p:nvPr/>
        </p:nvSpPr>
        <p:spPr>
          <a:xfrm>
            <a:off x="9067573" y="1515070"/>
            <a:ext cx="2514537" cy="2684959"/>
          </a:xfrm>
          <a:prstGeom prst="rect">
            <a:avLst/>
          </a:prstGeom>
          <a:solidFill>
            <a:srgbClr val="102746">
              <a:alpha val="72000"/>
            </a:srgbClr>
          </a:solidFill>
          <a:ln w="6350">
            <a:solidFill>
              <a:srgbClr val="42D9FF">
                <a:alpha val="24000"/>
              </a:srgbClr>
            </a:solidFill>
            <a:prstDash val="solid"/>
          </a:ln>
          <a:effectLst>
            <a:outerShdw sx="100000" sy="100000" kx="0" ky="0" algn="bl" rotWithShape="0" blurRad="284480" dist="93980" dir="5400000">
              <a:srgbClr val="000000">
                <a:alpha val="20000"/>
              </a:srgbClr>
            </a:outerShdw>
          </a:effectLst>
        </p:spPr>
      </p:sp>
      <p:pic>
        <p:nvPicPr>
          <p:cNvPr id="17" name="Image 3" descr="preencoded.png">    </p:cNvPr>
          <p:cNvPicPr>
            <a:picLocks noChangeAspect="1"/>
          </p:cNvPicPr>
          <p:nvPr/>
        </p:nvPicPr>
        <p:blipFill>
          <a:blip r:embed="rId4"/>
          <a:stretch>
            <a:fillRect/>
          </a:stretch>
        </p:blipFill>
        <p:spPr>
          <a:xfrm>
            <a:off x="9124722" y="1521420"/>
            <a:ext cx="2400240" cy="1350169"/>
          </a:xfrm>
          <a:prstGeom prst="rect">
            <a:avLst/>
          </a:prstGeom>
        </p:spPr>
      </p:pic>
      <p:sp>
        <p:nvSpPr>
          <p:cNvPr id="18" name="Text 12"/>
          <p:cNvSpPr/>
          <p:nvPr/>
        </p:nvSpPr>
        <p:spPr>
          <a:xfrm>
            <a:off x="9124722" y="3075130"/>
            <a:ext cx="2400240" cy="233164"/>
          </a:xfrm>
          <a:prstGeom prst="rect">
            <a:avLst/>
          </a:prstGeom>
          <a:noFill/>
          <a:ln/>
        </p:spPr>
        <p:txBody>
          <a:bodyPr wrap="none" lIns="0" tIns="0" rIns="0" bIns="0" rtlCol="0" anchor="t"/>
          <a:lstStyle/>
          <a:p>
            <a:pPr algn="l" indent="0" marL="0">
              <a:lnSpc>
                <a:spcPct val="85000"/>
              </a:lnSpc>
              <a:buNone/>
            </a:pPr>
            <a:r>
              <a:rPr lang="en-US" sz="1800" spc="-27" kern="100" dirty="0">
                <a:solidFill>
                  <a:srgbClr val="F2F7FF"/>
                </a:solidFill>
                <a:latin typeface="Manrope SemiBold" pitchFamily="34" charset="0"/>
                <a:ea typeface="Manrope SemiBold" pitchFamily="34" charset="-122"/>
                <a:cs typeface="Manrope SemiBold" pitchFamily="34" charset="-120"/>
              </a:rPr>
              <a:t>Rural families</a:t>
            </a:r>
            <a:endParaRPr lang="en-US" sz="1800" dirty="0"/>
          </a:p>
        </p:txBody>
      </p:sp>
      <p:sp>
        <p:nvSpPr>
          <p:cNvPr id="19" name="Text 13"/>
          <p:cNvSpPr/>
          <p:nvPr/>
        </p:nvSpPr>
        <p:spPr>
          <a:xfrm>
            <a:off x="9124722" y="3418538"/>
            <a:ext cx="2457389" cy="243384"/>
          </a:xfrm>
          <a:prstGeom prst="rect">
            <a:avLst/>
          </a:prstGeom>
          <a:noFill/>
          <a:ln/>
        </p:spPr>
        <p:txBody>
          <a:bodyPr wrap="none" lIns="0" tIns="0" rIns="0" bIns="0" rtlCol="0" anchor="t"/>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Relevant welfare schemes</a:t>
            </a:r>
            <a:endParaRPr lang="en-US" sz="1350" dirty="0"/>
          </a:p>
        </p:txBody>
      </p:sp>
      <p:sp>
        <p:nvSpPr>
          <p:cNvPr id="20" name="Shape 14"/>
          <p:cNvSpPr/>
          <p:nvPr/>
        </p:nvSpPr>
        <p:spPr>
          <a:xfrm>
            <a:off x="609585" y="4371479"/>
            <a:ext cx="10972526" cy="994767"/>
          </a:xfrm>
          <a:prstGeom prst="roundRect">
            <a:avLst>
              <a:gd name="adj" fmla="val 18384"/>
            </a:avLst>
          </a:prstGeom>
          <a:solidFill>
            <a:srgbClr val="006680"/>
          </a:solidFill>
          <a:ln/>
        </p:spPr>
      </p:sp>
      <p:sp>
        <p:nvSpPr>
          <p:cNvPr id="21" name="Text 15"/>
          <p:cNvSpPr/>
          <p:nvPr/>
        </p:nvSpPr>
        <p:spPr>
          <a:xfrm>
            <a:off x="812780" y="4631289"/>
            <a:ext cx="10566136" cy="486767"/>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FFFFFF"/>
                </a:solidFill>
                <a:latin typeface="Manrope" pitchFamily="34" charset="0"/>
                <a:ea typeface="Manrope" pitchFamily="34" charset="-122"/>
                <a:cs typeface="Manrope" pitchFamily="34" charset="-120"/>
              </a:rPr>
              <a:t>Pilot evaluation: information accuracy, official-link validity, time to locate relevant information, understanding across supported languages, and ease of use for people with limited digital literacy.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17156"/>
            <a:ext cx="11582110" cy="198338"/>
          </a:xfrm>
          <a:prstGeom prst="rect">
            <a:avLst/>
          </a:prstGeom>
          <a:noFill/>
          <a:ln/>
        </p:spPr>
        <p:txBody>
          <a:bodyPr wrap="none" lIns="0" tIns="0" rIns="0" bIns="0" rtlCol="0" anchor="t"/>
          <a:lstStyle/>
          <a:p>
            <a:pPr algn="l" indent="0" marL="0">
              <a:lnSpc>
                <a:spcPct val="118000"/>
              </a:lnSpc>
              <a:buNone/>
            </a:pPr>
            <a:r>
              <a:rPr lang="en-US" sz="1100" spc="154" kern="100" dirty="0">
                <a:solidFill>
                  <a:srgbClr val="42D9FF"/>
                </a:solidFill>
                <a:latin typeface="Manrope" pitchFamily="34" charset="0"/>
                <a:ea typeface="Manrope" pitchFamily="34" charset="-122"/>
                <a:cs typeface="Manrope" pitchFamily="34" charset="-120"/>
              </a:rPr>
              <a:t>TRUST BY DESIGN</a:t>
            </a:r>
            <a:endParaRPr lang="en-US" sz="1100" dirty="0"/>
          </a:p>
        </p:txBody>
      </p:sp>
      <p:sp>
        <p:nvSpPr>
          <p:cNvPr id="3" name="Text 1"/>
          <p:cNvSpPr/>
          <p:nvPr/>
        </p:nvSpPr>
        <p:spPr>
          <a:xfrm>
            <a:off x="609585" y="926429"/>
            <a:ext cx="10972526" cy="880864"/>
          </a:xfrm>
          <a:prstGeom prst="rect">
            <a:avLst/>
          </a:prstGeom>
          <a:noFill/>
          <a:ln/>
        </p:spPr>
        <p:txBody>
          <a:bodyPr wrap="square" lIns="0" tIns="0" rIns="0" bIns="0" rtlCol="0" anchor="t">
            <a:normAutofit/>
          </a:bodyPr>
          <a:lstStyle/>
          <a:p>
            <a:pPr algn="l" indent="0" marL="0">
              <a:lnSpc>
                <a:spcPct val="85000"/>
              </a:lnSpc>
              <a:buNone/>
            </a:pPr>
            <a:r>
              <a:rPr lang="en-US" sz="3400" b="1" spc="-51" kern="100" dirty="0">
                <a:solidFill>
                  <a:srgbClr val="F2F7FF"/>
                </a:solidFill>
                <a:latin typeface="Space Grotesk Bold" pitchFamily="34" charset="0"/>
                <a:ea typeface="Space Grotesk Bold" pitchFamily="34" charset="-122"/>
                <a:cs typeface="Space Grotesk Bold" pitchFamily="34" charset="-120"/>
              </a:rPr>
              <a:t>Accessible AI. Responsible guidance. Inclusive governance.</a:t>
            </a:r>
            <a:endParaRPr lang="en-US" sz="3400" dirty="0"/>
          </a:p>
        </p:txBody>
      </p:sp>
      <p:sp>
        <p:nvSpPr>
          <p:cNvPr id="4" name="Shape 2"/>
          <p:cNvSpPr/>
          <p:nvPr/>
        </p:nvSpPr>
        <p:spPr>
          <a:xfrm>
            <a:off x="609585" y="1955502"/>
            <a:ext cx="5958631" cy="2736354"/>
          </a:xfrm>
          <a:prstGeom prst="rect">
            <a:avLst/>
          </a:prstGeom>
          <a:solidFill>
            <a:srgbClr val="102746">
              <a:alpha val="72000"/>
            </a:srgbClr>
          </a:solidFill>
          <a:ln w="6350">
            <a:solidFill>
              <a:srgbClr val="42D9FF">
                <a:alpha val="24000"/>
              </a:srgbClr>
            </a:solidFill>
            <a:prstDash val="solid"/>
          </a:ln>
          <a:effectLst>
            <a:outerShdw sx="100000" sy="100000" kx="0" ky="0" algn="bl" rotWithShape="0" blurRad="284480" dist="93980" dir="5400000">
              <a:srgbClr val="000000">
                <a:alpha val="20000"/>
              </a:srgbClr>
            </a:outerShdw>
          </a:effectLst>
        </p:spPr>
      </p:sp>
      <p:pic>
        <p:nvPicPr>
          <p:cNvPr id="5" name="Image 0" descr="preencoded.png">    </p:cNvPr>
          <p:cNvPicPr>
            <a:picLocks noChangeAspect="1"/>
          </p:cNvPicPr>
          <p:nvPr/>
        </p:nvPicPr>
        <p:blipFill>
          <a:blip r:embed="rId1"/>
          <a:stretch>
            <a:fillRect/>
          </a:stretch>
        </p:blipFill>
        <p:spPr>
          <a:xfrm>
            <a:off x="654034" y="1999964"/>
            <a:ext cx="406390" cy="406400"/>
          </a:xfrm>
          <a:prstGeom prst="rect">
            <a:avLst/>
          </a:prstGeom>
        </p:spPr>
      </p:pic>
      <p:sp>
        <p:nvSpPr>
          <p:cNvPr id="6" name="Text 3"/>
          <p:cNvSpPr/>
          <p:nvPr/>
        </p:nvSpPr>
        <p:spPr>
          <a:xfrm>
            <a:off x="1263618" y="2005763"/>
            <a:ext cx="2210935" cy="730151"/>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Multilingual interaction plus personalized scheme discovery</a:t>
            </a:r>
            <a:endParaRPr lang="en-US" sz="1350" dirty="0"/>
          </a:p>
        </p:txBody>
      </p:sp>
      <p:pic>
        <p:nvPicPr>
          <p:cNvPr id="7" name="Image 1" descr="preencoded.png">    </p:cNvPr>
          <p:cNvPicPr>
            <a:picLocks noChangeAspect="1"/>
          </p:cNvPicPr>
          <p:nvPr/>
        </p:nvPicPr>
        <p:blipFill>
          <a:blip r:embed="rId2"/>
          <a:stretch>
            <a:fillRect/>
          </a:stretch>
        </p:blipFill>
        <p:spPr>
          <a:xfrm>
            <a:off x="3703148" y="1999964"/>
            <a:ext cx="406390" cy="406400"/>
          </a:xfrm>
          <a:prstGeom prst="rect">
            <a:avLst/>
          </a:prstGeom>
        </p:spPr>
      </p:pic>
      <p:sp>
        <p:nvSpPr>
          <p:cNvPr id="8" name="Text 4"/>
          <p:cNvSpPr/>
          <p:nvPr/>
        </p:nvSpPr>
        <p:spPr>
          <a:xfrm>
            <a:off x="4312733" y="2005763"/>
            <a:ext cx="2211035" cy="730151"/>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Simple explanations of complex government information</a:t>
            </a:r>
            <a:endParaRPr lang="en-US" sz="1350" dirty="0"/>
          </a:p>
        </p:txBody>
      </p:sp>
      <p:pic>
        <p:nvPicPr>
          <p:cNvPr id="9" name="Image 2" descr="preencoded.png">    </p:cNvPr>
          <p:cNvPicPr>
            <a:picLocks noChangeAspect="1"/>
          </p:cNvPicPr>
          <p:nvPr/>
        </p:nvPicPr>
        <p:blipFill>
          <a:blip r:embed="rId3"/>
          <a:stretch>
            <a:fillRect/>
          </a:stretch>
        </p:blipFill>
        <p:spPr>
          <a:xfrm>
            <a:off x="654034" y="2958616"/>
            <a:ext cx="406390" cy="406400"/>
          </a:xfrm>
          <a:prstGeom prst="rect">
            <a:avLst/>
          </a:prstGeom>
        </p:spPr>
      </p:pic>
      <p:sp>
        <p:nvSpPr>
          <p:cNvPr id="10" name="Text 5"/>
          <p:cNvSpPr/>
          <p:nvPr/>
        </p:nvSpPr>
        <p:spPr>
          <a:xfrm>
            <a:off x="1263618" y="2964414"/>
            <a:ext cx="2210935" cy="486767"/>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Responses grounded in official sources</a:t>
            </a:r>
            <a:endParaRPr lang="en-US" sz="1350" dirty="0"/>
          </a:p>
        </p:txBody>
      </p:sp>
      <p:sp>
        <p:nvSpPr>
          <p:cNvPr id="11" name="Text 6"/>
          <p:cNvSpPr/>
          <p:nvPr/>
        </p:nvSpPr>
        <p:spPr>
          <a:xfrm>
            <a:off x="4312733" y="2964414"/>
            <a:ext cx="2211035" cy="730151"/>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Clear communication of uncertainty and missing information</a:t>
            </a:r>
            <a:endParaRPr lang="en-US" sz="1350" dirty="0"/>
          </a:p>
        </p:txBody>
      </p:sp>
      <p:sp>
        <p:nvSpPr>
          <p:cNvPr id="12" name="Text 7"/>
          <p:cNvSpPr/>
          <p:nvPr/>
        </p:nvSpPr>
        <p:spPr>
          <a:xfrm>
            <a:off x="1263618" y="3923066"/>
            <a:ext cx="2210935" cy="730151"/>
          </a:xfrm>
          <a:prstGeom prst="rect">
            <a:avLst/>
          </a:prstGeom>
          <a:noFill/>
          <a:ln/>
        </p:spPr>
        <p:txBody>
          <a:bodyPr wrap="square" lIns="0" tIns="0" rIns="0" bIns="0" rtlCol="0" anchor="t">
            <a:normAutofit/>
          </a:bodyPr>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Data minimization and no claim of government affiliation</a:t>
            </a:r>
            <a:endParaRPr lang="en-US" sz="1350" dirty="0"/>
          </a:p>
        </p:txBody>
      </p:sp>
      <p:sp>
        <p:nvSpPr>
          <p:cNvPr id="13" name="Text 8"/>
          <p:cNvSpPr/>
          <p:nvPr/>
        </p:nvSpPr>
        <p:spPr>
          <a:xfrm>
            <a:off x="4312733" y="3923066"/>
            <a:ext cx="2249134" cy="243384"/>
          </a:xfrm>
          <a:prstGeom prst="rect">
            <a:avLst/>
          </a:prstGeom>
          <a:noFill/>
          <a:ln/>
        </p:spPr>
        <p:txBody>
          <a:bodyPr wrap="none" lIns="0" tIns="0" rIns="0" bIns="0" rtlCol="0" anchor="t"/>
          <a:lstStyle/>
          <a:p>
            <a:pPr algn="l" indent="0" marL="0">
              <a:lnSpc>
                <a:spcPct val="118000"/>
              </a:lnSpc>
              <a:buNone/>
            </a:pPr>
            <a:r>
              <a:rPr lang="en-US" sz="1350" dirty="0">
                <a:solidFill>
                  <a:srgbClr val="C7D5EA"/>
                </a:solidFill>
                <a:latin typeface="Manrope" pitchFamily="34" charset="0"/>
                <a:ea typeface="Manrope" pitchFamily="34" charset="-122"/>
                <a:cs typeface="Manrope" pitchFamily="34" charset="-120"/>
              </a:rPr>
              <a:t>No guarantee of eligibility</a:t>
            </a:r>
            <a:endParaRPr lang="en-US" sz="1350" dirty="0"/>
          </a:p>
        </p:txBody>
      </p:sp>
      <p:sp>
        <p:nvSpPr>
          <p:cNvPr id="14" name="Text 9"/>
          <p:cNvSpPr/>
          <p:nvPr/>
        </p:nvSpPr>
        <p:spPr>
          <a:xfrm>
            <a:off x="609585" y="4811808"/>
            <a:ext cx="5958631" cy="1154112"/>
          </a:xfrm>
          <a:prstGeom prst="rect">
            <a:avLst/>
          </a:prstGeom>
          <a:noFill/>
          <a:ln/>
        </p:spPr>
        <p:txBody>
          <a:bodyPr wrap="square" lIns="0" tIns="0" rIns="0" bIns="0" rtlCol="0" anchor="t">
            <a:normAutofit/>
          </a:bodyPr>
          <a:lstStyle/>
          <a:p>
            <a:pPr algn="l" indent="0" marL="0">
              <a:lnSpc>
                <a:spcPct val="118000"/>
              </a:lnSpc>
              <a:buNone/>
            </a:pPr>
            <a:r>
              <a:rPr lang="en-US" sz="1600" dirty="0">
                <a:solidFill>
                  <a:srgbClr val="C7D5EA"/>
                </a:solidFill>
                <a:latin typeface="Manrope" pitchFamily="34" charset="0"/>
                <a:ea typeface="Manrope" pitchFamily="34" charset="-122"/>
                <a:cs typeface="Manrope" pitchFamily="34" charset="-120"/>
              </a:rPr>
              <a:t>Future scope: more Indian languages, voice-first interaction, low-bandwidth access, screen-reader-friendly design, expanded scheme coverage, feedback-driven quality improvements.</a:t>
            </a:r>
            <a:endParaRPr lang="en-US" sz="1600" dirty="0"/>
          </a:p>
        </p:txBody>
      </p:sp>
      <p:pic>
        <p:nvPicPr>
          <p:cNvPr id="15" name="Image 3" descr="preencoded.png">    </p:cNvPr>
          <p:cNvPicPr>
            <a:picLocks noChangeAspect="1"/>
          </p:cNvPicPr>
          <p:nvPr/>
        </p:nvPicPr>
        <p:blipFill>
          <a:blip r:embed="rId4"/>
          <a:stretch>
            <a:fillRect/>
          </a:stretch>
        </p:blipFill>
        <p:spPr>
          <a:xfrm>
            <a:off x="7025305" y="2260402"/>
            <a:ext cx="3682908" cy="3683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19649" y="954977"/>
            <a:ext cx="5359266" cy="932656"/>
          </a:xfrm>
          <a:prstGeom prst="rect">
            <a:avLst/>
          </a:prstGeom>
          <a:noFill/>
          <a:ln/>
        </p:spPr>
        <p:txBody>
          <a:bodyPr wrap="square" lIns="0" tIns="0" rIns="0" bIns="0" rtlCol="0" anchor="t">
            <a:normAutofit/>
          </a:bodyPr>
          <a:lstStyle/>
          <a:p>
            <a:pPr algn="l" indent="0" marL="0">
              <a:lnSpc>
                <a:spcPct val="85000"/>
              </a:lnSpc>
              <a:buNone/>
            </a:pPr>
            <a:r>
              <a:rPr lang="en-US" sz="3600" b="1" spc="-54" kern="100" dirty="0">
                <a:solidFill>
                  <a:srgbClr val="F2F7FF"/>
                </a:solidFill>
                <a:latin typeface="Space Grotesk Bold" pitchFamily="34" charset="0"/>
                <a:ea typeface="Space Grotesk Bold" pitchFamily="34" charset="-122"/>
                <a:cs typeface="Space Grotesk Bold" pitchFamily="34" charset="-120"/>
              </a:rPr>
              <a:t>Making public services easier for every Indian</a:t>
            </a:r>
            <a:endParaRPr lang="en-US" sz="3600" dirty="0"/>
          </a:p>
        </p:txBody>
      </p:sp>
      <p:sp>
        <p:nvSpPr>
          <p:cNvPr id="3" name="Text 1"/>
          <p:cNvSpPr/>
          <p:nvPr/>
        </p:nvSpPr>
        <p:spPr>
          <a:xfrm>
            <a:off x="6019649" y="2042382"/>
            <a:ext cx="5359266" cy="685205"/>
          </a:xfrm>
          <a:prstGeom prst="rect">
            <a:avLst/>
          </a:prstGeom>
          <a:noFill/>
          <a:ln/>
        </p:spPr>
        <p:txBody>
          <a:bodyPr wrap="square" lIns="0" tIns="0" rIns="0" bIns="0" rtlCol="0" anchor="t">
            <a:normAutofit/>
          </a:bodyPr>
          <a:lstStyle/>
          <a:p>
            <a:pPr algn="l" indent="0" marL="0">
              <a:lnSpc>
                <a:spcPct val="118000"/>
              </a:lnSpc>
              <a:buNone/>
            </a:pPr>
            <a:r>
              <a:rPr lang="en-US" sz="1900" dirty="0">
                <a:solidFill>
                  <a:srgbClr val="FFFFFF"/>
                </a:solidFill>
                <a:latin typeface="Manrope" pitchFamily="34" charset="0"/>
                <a:ea typeface="Manrope" pitchFamily="34" charset="-122"/>
                <a:cs typeface="Manrope" pitchFamily="34" charset="-120"/>
              </a:rPr>
              <a:t>“One Platform. Multiple Languages. Easier Access to Government Schemes.”</a:t>
            </a:r>
            <a:endParaRPr lang="en-US" sz="1900" dirty="0"/>
          </a:p>
        </p:txBody>
      </p:sp>
      <p:sp>
        <p:nvSpPr>
          <p:cNvPr id="4" name="Text 2"/>
          <p:cNvSpPr/>
          <p:nvPr/>
        </p:nvSpPr>
        <p:spPr>
          <a:xfrm>
            <a:off x="6019649" y="2903038"/>
            <a:ext cx="5359266" cy="865584"/>
          </a:xfrm>
          <a:prstGeom prst="rect">
            <a:avLst/>
          </a:prstGeom>
          <a:noFill/>
          <a:ln/>
        </p:spPr>
        <p:txBody>
          <a:bodyPr wrap="square" lIns="0" tIns="0" rIns="0" bIns="0" rtlCol="0" anchor="t">
            <a:normAutofit/>
          </a:bodyPr>
          <a:lstStyle/>
          <a:p>
            <a:pPr algn="l" indent="0" marL="0">
              <a:lnSpc>
                <a:spcPct val="118000"/>
              </a:lnSpc>
              <a:buNone/>
            </a:pPr>
            <a:r>
              <a:rPr lang="en-US" sz="1600" dirty="0">
                <a:solidFill>
                  <a:srgbClr val="FFFFFF"/>
                </a:solidFill>
                <a:latin typeface="Manrope" pitchFamily="34" charset="0"/>
                <a:ea typeface="Manrope" pitchFamily="34" charset="-122"/>
                <a:cs typeface="Manrope" pitchFamily="34" charset="-120"/>
              </a:rPr>
              <a:t>BharatSeva AI aims to bridge the information gap between citizens and public services through accessible, multilingual, AI-powered guidance.</a:t>
            </a:r>
            <a:endParaRPr lang="en-US" sz="1600" dirty="0"/>
          </a:p>
        </p:txBody>
      </p:sp>
      <p:sp>
        <p:nvSpPr>
          <p:cNvPr id="5" name="Text 3"/>
          <p:cNvSpPr/>
          <p:nvPr/>
        </p:nvSpPr>
        <p:spPr>
          <a:xfrm>
            <a:off x="6019649" y="3936294"/>
            <a:ext cx="5968851" cy="189309"/>
          </a:xfrm>
          <a:prstGeom prst="rect">
            <a:avLst/>
          </a:prstGeom>
          <a:noFill/>
          <a:ln/>
        </p:spPr>
        <p:txBody>
          <a:bodyPr wrap="none" lIns="0" tIns="0" rIns="0" bIns="0" rtlCol="0" anchor="t"/>
          <a:lstStyle/>
          <a:p>
            <a:pPr algn="l" indent="0" marL="0">
              <a:lnSpc>
                <a:spcPct val="118000"/>
              </a:lnSpc>
              <a:buNone/>
            </a:pPr>
            <a:r>
              <a:rPr lang="en-US" sz="1050" dirty="0">
                <a:solidFill>
                  <a:srgbClr val="FFFFFF"/>
                </a:solidFill>
                <a:latin typeface="Manrope" pitchFamily="34" charset="0"/>
                <a:ea typeface="Manrope" pitchFamily="34" charset="-122"/>
                <a:cs typeface="Manrope" pitchFamily="34" charset="-120"/>
              </a:rPr>
              <a:t>Thank you · [Team Name] · [Contact Details]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2026-10-10T17:32:02Z</dcterms:created>
  <dcterms:modified xsi:type="dcterms:W3CDTF">2026-10-10T17:32:02Z</dcterms:modified>
</cp:coreProperties>
</file>